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1887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 Fund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EC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Inverted UN Scale of Assessment Option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3101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guide to the five key concepts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6858000" cy="502920"/>
          </a:xfrm>
          <a:prstGeom prst="rect">
            <a:avLst/>
          </a:prstGeom>
          <a:solidFill>
            <a:srgbClr val="028090">
              <a:alpha val="2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2245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illustrative modelling outputs for exploratory purposes. They do not represent entitlements or predetermined disbursements.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847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3225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Establishing Equity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980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Recognising Stewardship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3273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Recognising IPLCs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model for?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Purpose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 Fund distributes biodiversity finance among countries that are Parties to the Convention on Biological Diversity (CBD). This model produces indicative, illustrative shares — not binding entitlements — to support negotiations.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A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4592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901952"/>
            <a:ext cx="3712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that contribute less to the UN budget receive proportionally more from this fund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A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64592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protections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64608" y="1901952"/>
            <a:ext cx="3712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Developed Countries, Small Island Developing States, and Indigenous Peoples &amp; Local Communities all receive targeted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" y="2926080"/>
            <a:ext cx="8174736" cy="594360"/>
          </a:xfrm>
          <a:prstGeom prst="rect">
            <a:avLst/>
          </a:prstGeom>
          <a:solidFill>
            <a:srgbClr val="EAF6F5"/>
          </a:solidFill>
          <a:ln w="6350">
            <a:solidFill>
              <a:srgbClr val="C0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7180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the UN Scale of Assessments 2025–2027 as its input — a widely-accepted measure of countries' relative economic capacity.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920240" cy="1005840"/>
          </a:xfrm>
          <a:prstGeom prst="rect">
            <a:avLst/>
          </a:prstGeom>
          <a:solidFill>
            <a:srgbClr val="E6F1FB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total annual pot in USD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3703320"/>
            <a:ext cx="1920240" cy="1005840"/>
          </a:xfrm>
          <a:prstGeom prst="rect">
            <a:avLst/>
          </a:prstGeom>
          <a:solidFill>
            <a:srgbClr val="E1F5EE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area weight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how much land stewardship matters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03320"/>
            <a:ext cx="1920240" cy="1005840"/>
          </a:xfrm>
          <a:prstGeom prst="rect">
            <a:avLst/>
          </a:prstGeom>
          <a:solidFill>
            <a:srgbClr val="FAEEDA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states weight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a pool for small island nations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703320"/>
            <a:ext cx="1920240" cy="1005840"/>
          </a:xfrm>
          <a:prstGeom prst="rect">
            <a:avLst/>
          </a:prstGeom>
          <a:solidFill>
            <a:srgbClr val="EEEDFE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IPLC share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each allocation between governments and IPLCs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foundation. Two adjustments.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The Formula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one foundation and two adjustments that together determine every country's share.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B39"/>
                </a:solidFill>
              </a:rPr>
              <a:t>Each country's share  =  </a:t>
            </a:r>
            <a:pPr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Inverted UN Scale of Assessment Foundation (IUSAF)</a:t>
            </a:r>
            <a:pPr indent="0" marL="0">
              <a:buNone/>
            </a:pPr>
            <a:r>
              <a:rPr lang="en-US" sz="1200" dirty="0">
                <a:solidFill>
                  <a:srgbClr val="5C7B72"/>
                </a:solidFill>
              </a:rPr>
              <a:t>  — the base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B39"/>
                </a:solidFill>
              </a:rPr>
              <a:t>  +  </a:t>
            </a:r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Terrestrial Stewardship Allocation Component (TSAC)</a:t>
            </a:r>
            <a:pPr indent="0" marL="0">
              <a:buNone/>
            </a:pPr>
            <a:r>
              <a:rPr lang="en-US" sz="1200" dirty="0">
                <a:solidFill>
                  <a:srgbClr val="5C7B72"/>
                </a:solidFill>
              </a:rPr>
              <a:t>  — adjustment for large countries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B3B39"/>
                </a:solidFill>
              </a:rPr>
              <a:t>  +  </a:t>
            </a:r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</a:rPr>
              <a:t>SIDS Ocean Stewardship Allocation Component (SOSAC)</a:t>
            </a:r>
            <a:pPr indent="0" marL="0">
              <a:buNone/>
            </a:pPr>
            <a:r>
              <a:rPr lang="en-US" sz="1200" dirty="0">
                <a:solidFill>
                  <a:srgbClr val="5C7B72"/>
                </a:solidFill>
              </a:rPr>
              <a:t>  — adjustment for island states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606040" cy="132588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74320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IUSAF · 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999232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equity engine. Inverts UN budget shares so smaller contributors receive a larger fund share. All allocations start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2651760"/>
            <a:ext cx="2606040" cy="132588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74320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TSAC · Adjustment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2999232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the terrestrial biodiversity stewardship responsibilities of countries with large land areas.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651760"/>
            <a:ext cx="2606040" cy="132588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274320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SOSAC · Adjustment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90488" y="2999232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the ocean stewardship responsibilities and structural constraints of Small Island Developing States.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4864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4114800"/>
            <a:ext cx="8174736" cy="594360"/>
          </a:xfrm>
          <a:prstGeom prst="rect">
            <a:avLst/>
          </a:prstGeom>
          <a:solidFill>
            <a:srgbClr val="EAF6F5"/>
          </a:solidFill>
          <a:ln w="6350">
            <a:solidFill>
              <a:srgbClr val="C0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16052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IUSAF is the foundation. TSAC and SOSAC are adjustments — any weight given to them reallocates money away from the IUSAF base. It is a matter for Parties to agree the appropriate balance.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Establishing Equity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IUSAF — the foundation of the model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Establishing Equity (IUSAF)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 Scale says how much each country contributes to the UN budget. The model flips this: the smaller your UN share, the larger your fund share. </a:t>
            </a:r>
            <a:pPr indent="0" marL="0">
              <a:buNone/>
            </a:pPr>
            <a:r>
              <a:rPr lang="en-US" sz="1300" b="1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of the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share  =  1 ÷ UN budget share   →   then rescaled so all shares add up to 100%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inversion redistributes fund shares (illustrative):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2578608"/>
            <a:ext cx="4279392" cy="32004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578608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fund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 contributor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3145536"/>
            <a:ext cx="1188720" cy="32004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31455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fund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UN contributor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758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91640" y="3712464"/>
            <a:ext cx="475488" cy="32004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37124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fund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 contributor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" y="4251960"/>
            <a:ext cx="8174736" cy="548640"/>
          </a:xfrm>
          <a:prstGeom prst="rect">
            <a:avLst/>
          </a:prstGeom>
          <a:solidFill>
            <a:srgbClr val="EAF6F5"/>
          </a:solidFill>
          <a:ln w="6350">
            <a:solidFill>
              <a:srgbClr val="C0E4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29768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a 0% UN assessment (such as the EU as an entity) receive a zero allocation and are shown separately in the app.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Recognising Stewardship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TSAC &amp; SOSAC — adjustments for different biodiversity responsibilities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Recognising Stewardship (TSAC &amp; SOSAC)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28016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countries: terrestrial biodiversity stewardship (TSAC)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33856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countries are very large and therefore carry greater responsibility for stewarding the world's terrestrial biodiversity. A land-area weight recognises this stewardship role and adjusts their share accordingly.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28016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128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Island Developing States: ocean stewardship and structural constraints (SOSAC)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05456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Island Developing States carry significant ocean stewardship responsibilities and face recognised structural constraints — geographic isolation, economic vulnerability, and disproportionate exposure to environmental risks. An equal share among eligible SIDS balances these realities.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components are weighted so they always add up to 100% of the fund. Giving more weight to TSAC or SOSAC reallocates money away from the IUSAF foundation. It would be a matter for Parties to agree the appropriate balance points between IUSAF, TSAC and SOSAC.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6172200" cy="347472"/>
          </a:xfrm>
          <a:prstGeom prst="rect">
            <a:avLst/>
          </a:prstGeom>
          <a:solidFill>
            <a:srgbClr val="E6F1FB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06240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IUSAF 75%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56832" y="4206240"/>
            <a:ext cx="1207008" cy="347472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420624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TSAC 15%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18704" y="4206240"/>
            <a:ext cx="768096" cy="347472"/>
          </a:xfrm>
          <a:prstGeom prst="rect">
            <a:avLst/>
          </a:prstGeom>
          <a:solidFill>
            <a:srgbClr val="FAEEDA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4206240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SOSAC 10%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Recognising IPLCs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16/2: at least 50% of Cali Funding allocated to IPLCs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· Recognising IPLCs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simplicity the model is organised around countries as Parties. In accordance with Decision 16/2 at least 50% of Cali Funding will be allocated to IPLCs. This is achieved by splitting the allocation in half.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4864" cy="100584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444752"/>
            <a:ext cx="8174736" cy="1005840"/>
          </a:xfrm>
          <a:prstGeom prst="rect">
            <a:avLst/>
          </a:prstGeom>
          <a:solidFill>
            <a:srgbClr val="FEF9EE"/>
          </a:solidFill>
          <a:ln w="6350">
            <a:solidFill>
              <a:srgbClr val="EFD0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important to recognise that </a:t>
            </a:r>
            <a:pPr indent="0" marL="0">
              <a:buNone/>
            </a:pPr>
            <a:r>
              <a:rPr lang="en-US" sz="1200" b="1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allocated to IPLCs by the formula</a:t>
            </a:r>
            <a:pPr indent="0" marL="0">
              <a:buNone/>
            </a:pPr>
            <a:r>
              <a:rPr lang="en-US" sz="1200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00" b="1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pathways to disbursement</a:t>
            </a:r>
            <a:pPr indent="0" marL="0">
              <a:buNone/>
            </a:pPr>
            <a:r>
              <a:rPr lang="en-US" sz="1200" dirty="0">
                <a:solidFill>
                  <a:srgbClr val="5C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separate considerations. Different pathways to disbursement may be appropriate at the national, subnational or UN regional/sub-regional level and may be informed by existing experience, guiding principles and the programme of work of the Subsidiary Body on Article 8J and Other Provisions of the Convention.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CA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9689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IPLC share</a:t>
            </a:r>
            <a:pPr indent="0" marL="0">
              <a:buNone/>
            </a:pPr>
            <a:r>
              <a:rPr lang="en-US" sz="14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total allocation  ×  chosen %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share</a:t>
            </a:r>
            <a:pPr indent="0" marL="0">
              <a:buNone/>
            </a:pPr>
            <a:r>
              <a:rPr lang="en-US" sz="14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total allocation  ×  the remainder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country receiving $5m from a $1 billion fund (50% IPLC share):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484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IPLC share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3666744"/>
            <a:ext cx="3200400" cy="292608"/>
          </a:xfrm>
          <a:prstGeom prst="rect">
            <a:avLst/>
          </a:prstGeom>
          <a:solidFill>
            <a:srgbClr val="EEEDFE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666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 — 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41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40280" y="4059936"/>
            <a:ext cx="3200400" cy="292608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4059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 — 50%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442569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$5.00m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648456"/>
            <a:ext cx="54864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632704" y="3648456"/>
            <a:ext cx="3008376" cy="1051560"/>
          </a:xfrm>
          <a:prstGeom prst="rect">
            <a:avLst/>
          </a:prstGeom>
          <a:solidFill>
            <a:srgbClr val="EAF6F5"/>
          </a:solidFill>
          <a:ln w="6350">
            <a:solidFill>
              <a:srgbClr val="C0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42432" y="3694176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5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shows: Total share, Government component, and IPLC component. A totals row confirms everything sums to the fund size.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 Fund Allocation Model (Inverted UN Scale of Assessment Option)</dc:title>
  <dc:subject>PptxGenJS Presentation</dc:subject>
  <dc:creator>TierraViva AI</dc:creator>
  <cp:lastModifiedBy>TierraViva AI</cp:lastModifiedBy>
  <cp:revision>1</cp:revision>
  <dcterms:created xsi:type="dcterms:W3CDTF">2026-03-14T15:05:50Z</dcterms:created>
  <dcterms:modified xsi:type="dcterms:W3CDTF">2026-03-14T15:05:50Z</dcterms:modified>
</cp:coreProperties>
</file>