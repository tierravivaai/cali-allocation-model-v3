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671"/>
    <p:restoredTop sz="94610"/>
  </p:normalViewPr>
  <p:slideViewPr>
    <p:cSldViewPr snapToGrid="0" snapToObjects="1">
      <p:cViewPr varScale="1">
        <p:scale>
          <a:sx n="126" d="100"/>
          <a:sy n="126" d="100"/>
        </p:scale>
        <p:origin x="25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4471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2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8090"/>
          </a:solidFill>
          <a:ln/>
        </p:spPr>
        <p:txBody>
          <a:bodyPr/>
          <a:lstStyle/>
          <a:p>
            <a:endParaRPr lang="en-US"/>
          </a:p>
        </p:txBody>
      </p:sp>
      <p:sp>
        <p:nvSpPr>
          <p:cNvPr id="3" name="Text 1"/>
          <p:cNvSpPr/>
          <p:nvPr/>
        </p:nvSpPr>
        <p:spPr>
          <a:xfrm>
            <a:off x="502920" y="1371600"/>
            <a:ext cx="5943600" cy="1828800"/>
          </a:xfrm>
          <a:prstGeom prst="rect">
            <a:avLst/>
          </a:prstGeom>
          <a:noFill/>
          <a:ln/>
        </p:spPr>
        <p:txBody>
          <a:bodyPr wrap="square"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Cali Fund</a:t>
            </a:r>
            <a:endParaRPr lang="en-US" sz="4000" dirty="0"/>
          </a:p>
          <a:p>
            <a:pPr marL="0" indent="0">
              <a:buNone/>
            </a:pPr>
            <a:r>
              <a:rPr lang="en-US" sz="4000" b="1" dirty="0">
                <a:solidFill>
                  <a:srgbClr val="FFFFFF"/>
                </a:solidFill>
                <a:latin typeface="Georgia" pitchFamily="34" charset="0"/>
                <a:ea typeface="Georgia" pitchFamily="34" charset="-122"/>
                <a:cs typeface="Georgia" pitchFamily="34" charset="-120"/>
              </a:rPr>
              <a:t>Allocation Model: Inverted UN Scale</a:t>
            </a:r>
            <a:endParaRPr lang="en-US" sz="4000" dirty="0"/>
          </a:p>
        </p:txBody>
      </p:sp>
      <p:sp>
        <p:nvSpPr>
          <p:cNvPr id="4" name="Text 2"/>
          <p:cNvSpPr/>
          <p:nvPr/>
        </p:nvSpPr>
        <p:spPr>
          <a:xfrm>
            <a:off x="502920" y="3246120"/>
            <a:ext cx="6400800" cy="457200"/>
          </a:xfrm>
          <a:prstGeom prst="rect">
            <a:avLst/>
          </a:prstGeom>
          <a:noFill/>
          <a:ln/>
        </p:spPr>
        <p:txBody>
          <a:bodyPr wrap="square" rtlCol="0" anchor="ctr"/>
          <a:lstStyle/>
          <a:p>
            <a:pPr marL="0" indent="0">
              <a:buNone/>
            </a:pPr>
            <a:r>
              <a:rPr lang="en-US" sz="1600" i="1" dirty="0">
                <a:solidFill>
                  <a:srgbClr val="9ECFC8"/>
                </a:solidFill>
                <a:latin typeface="Calibri" pitchFamily="34" charset="0"/>
                <a:ea typeface="Calibri" pitchFamily="34" charset="-122"/>
                <a:cs typeface="Calibri" pitchFamily="34" charset="-120"/>
              </a:rPr>
              <a:t>An interactive guide to the five key concepts</a:t>
            </a:r>
            <a:endParaRPr lang="en-US" sz="1600" dirty="0"/>
          </a:p>
        </p:txBody>
      </p:sp>
      <p:sp>
        <p:nvSpPr>
          <p:cNvPr id="5" name="Shape 3"/>
          <p:cNvSpPr/>
          <p:nvPr/>
        </p:nvSpPr>
        <p:spPr>
          <a:xfrm>
            <a:off x="502920" y="4206240"/>
            <a:ext cx="6858000" cy="502920"/>
          </a:xfrm>
          <a:prstGeom prst="rect">
            <a:avLst/>
          </a:prstGeom>
          <a:solidFill>
            <a:srgbClr val="028090">
              <a:alpha val="25000"/>
            </a:srgbClr>
          </a:solidFill>
          <a:ln w="6350">
            <a:solidFill>
              <a:srgbClr val="028090"/>
            </a:solidFill>
            <a:prstDash val="solid"/>
          </a:ln>
        </p:spPr>
        <p:txBody>
          <a:bodyPr/>
          <a:lstStyle/>
          <a:p>
            <a:endParaRPr lang="en-US"/>
          </a:p>
        </p:txBody>
      </p:sp>
      <p:sp>
        <p:nvSpPr>
          <p:cNvPr id="6" name="Text 4"/>
          <p:cNvSpPr/>
          <p:nvPr/>
        </p:nvSpPr>
        <p:spPr>
          <a:xfrm>
            <a:off x="594360" y="4224528"/>
            <a:ext cx="6675120" cy="45720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All figures are illustrative modelling outputs for exploratory purposes. They do not represent entitlements or predetermined disbursements. THIS DOCUMENT IS A DRAFT FOR INFORMATION PURPOSES ONLY.</a:t>
            </a:r>
            <a:endParaRPr lang="en-US" sz="1000" dirty="0"/>
          </a:p>
        </p:txBody>
      </p:sp>
      <p:sp>
        <p:nvSpPr>
          <p:cNvPr id="7" name="Text 5"/>
          <p:cNvSpPr/>
          <p:nvPr/>
        </p:nvSpPr>
        <p:spPr>
          <a:xfrm>
            <a:off x="6583680" y="1371600"/>
            <a:ext cx="2377440" cy="411480"/>
          </a:xfrm>
          <a:prstGeom prst="rect">
            <a:avLst/>
          </a:prstGeom>
          <a:noFill/>
          <a:ln/>
        </p:spPr>
        <p:txBody>
          <a:bodyPr wrap="square" rtlCol="0" anchor="ctr"/>
          <a:lstStyle/>
          <a:p>
            <a:pPr marL="0" indent="0" algn="r">
              <a:buNone/>
            </a:pPr>
            <a:r>
              <a:rPr lang="en-US" sz="1200" dirty="0">
                <a:solidFill>
                  <a:srgbClr val="9ECFC8"/>
                </a:solidFill>
                <a:latin typeface="Calibri" pitchFamily="34" charset="0"/>
                <a:ea typeface="Calibri" pitchFamily="34" charset="-122"/>
                <a:cs typeface="Calibri" pitchFamily="34" charset="-120"/>
              </a:rPr>
              <a:t>1. Purpose</a:t>
            </a:r>
            <a:endParaRPr lang="en-US" sz="1200" dirty="0"/>
          </a:p>
        </p:txBody>
      </p:sp>
      <p:sp>
        <p:nvSpPr>
          <p:cNvPr id="8" name="Text 6"/>
          <p:cNvSpPr/>
          <p:nvPr/>
        </p:nvSpPr>
        <p:spPr>
          <a:xfrm>
            <a:off x="6583680" y="1847088"/>
            <a:ext cx="2377440" cy="411480"/>
          </a:xfrm>
          <a:prstGeom prst="rect">
            <a:avLst/>
          </a:prstGeom>
          <a:noFill/>
          <a:ln/>
        </p:spPr>
        <p:txBody>
          <a:bodyPr wrap="square" rtlCol="0" anchor="ctr"/>
          <a:lstStyle/>
          <a:p>
            <a:pPr marL="0" indent="0" algn="r">
              <a:buNone/>
            </a:pPr>
            <a:r>
              <a:rPr lang="en-US" sz="1200" dirty="0">
                <a:solidFill>
                  <a:srgbClr val="9ECFC8"/>
                </a:solidFill>
                <a:latin typeface="Calibri" pitchFamily="34" charset="0"/>
                <a:ea typeface="Calibri" pitchFamily="34" charset="-122"/>
                <a:cs typeface="Calibri" pitchFamily="34" charset="-120"/>
              </a:rPr>
              <a:t>2. The Formula</a:t>
            </a:r>
            <a:endParaRPr lang="en-US" sz="1200" dirty="0"/>
          </a:p>
        </p:txBody>
      </p:sp>
      <p:sp>
        <p:nvSpPr>
          <p:cNvPr id="9" name="Text 7"/>
          <p:cNvSpPr/>
          <p:nvPr/>
        </p:nvSpPr>
        <p:spPr>
          <a:xfrm>
            <a:off x="6583680" y="2322576"/>
            <a:ext cx="2377440" cy="411480"/>
          </a:xfrm>
          <a:prstGeom prst="rect">
            <a:avLst/>
          </a:prstGeom>
          <a:noFill/>
          <a:ln/>
        </p:spPr>
        <p:txBody>
          <a:bodyPr wrap="square" rtlCol="0" anchor="ctr"/>
          <a:lstStyle/>
          <a:p>
            <a:pPr marL="0" indent="0" algn="r">
              <a:buNone/>
            </a:pPr>
            <a:r>
              <a:rPr lang="en-US" sz="1200" dirty="0">
                <a:solidFill>
                  <a:srgbClr val="9ECFC8"/>
                </a:solidFill>
                <a:latin typeface="Calibri" pitchFamily="34" charset="0"/>
                <a:ea typeface="Calibri" pitchFamily="34" charset="-122"/>
                <a:cs typeface="Calibri" pitchFamily="34" charset="-120"/>
              </a:rPr>
              <a:t>3. Establishing Equity</a:t>
            </a:r>
            <a:endParaRPr lang="en-US" sz="1200" dirty="0"/>
          </a:p>
        </p:txBody>
      </p:sp>
      <p:sp>
        <p:nvSpPr>
          <p:cNvPr id="10" name="Text 8"/>
          <p:cNvSpPr/>
          <p:nvPr/>
        </p:nvSpPr>
        <p:spPr>
          <a:xfrm>
            <a:off x="6583680" y="2798064"/>
            <a:ext cx="2377440" cy="411480"/>
          </a:xfrm>
          <a:prstGeom prst="rect">
            <a:avLst/>
          </a:prstGeom>
          <a:noFill/>
          <a:ln/>
        </p:spPr>
        <p:txBody>
          <a:bodyPr wrap="square" rtlCol="0" anchor="ctr"/>
          <a:lstStyle/>
          <a:p>
            <a:pPr marL="0" indent="0" algn="r">
              <a:buNone/>
            </a:pPr>
            <a:r>
              <a:rPr lang="en-US" sz="1200" dirty="0">
                <a:solidFill>
                  <a:srgbClr val="9ECFC8"/>
                </a:solidFill>
                <a:latin typeface="Calibri" pitchFamily="34" charset="0"/>
                <a:ea typeface="Calibri" pitchFamily="34" charset="-122"/>
                <a:cs typeface="Calibri" pitchFamily="34" charset="-120"/>
              </a:rPr>
              <a:t>4. Recognising Stewardship</a:t>
            </a:r>
            <a:endParaRPr lang="en-US" sz="1200" dirty="0"/>
          </a:p>
        </p:txBody>
      </p:sp>
      <p:sp>
        <p:nvSpPr>
          <p:cNvPr id="11" name="Text 9"/>
          <p:cNvSpPr/>
          <p:nvPr/>
        </p:nvSpPr>
        <p:spPr>
          <a:xfrm>
            <a:off x="6583680" y="3273552"/>
            <a:ext cx="2377440" cy="411480"/>
          </a:xfrm>
          <a:prstGeom prst="rect">
            <a:avLst/>
          </a:prstGeom>
          <a:noFill/>
          <a:ln/>
        </p:spPr>
        <p:txBody>
          <a:bodyPr wrap="square" rtlCol="0" anchor="ctr"/>
          <a:lstStyle/>
          <a:p>
            <a:pPr marL="0" indent="0" algn="r">
              <a:buNone/>
            </a:pPr>
            <a:r>
              <a:rPr lang="en-US" sz="1200" dirty="0">
                <a:solidFill>
                  <a:srgbClr val="9ECFC8"/>
                </a:solidFill>
                <a:latin typeface="Calibri" pitchFamily="34" charset="0"/>
                <a:ea typeface="Calibri" pitchFamily="34" charset="-122"/>
                <a:cs typeface="Calibri" pitchFamily="34" charset="-120"/>
              </a:rPr>
              <a:t>5. Recognising IPLCs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3B2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8090"/>
          </a:solidFill>
          <a:ln/>
        </p:spPr>
        <p:txBody>
          <a:bodyPr/>
          <a:lstStyle/>
          <a:p>
            <a:endParaRPr lang="en-US"/>
          </a:p>
        </p:txBody>
      </p:sp>
      <p:sp>
        <p:nvSpPr>
          <p:cNvPr id="3" name="Text 1"/>
          <p:cNvSpPr/>
          <p:nvPr/>
        </p:nvSpPr>
        <p:spPr>
          <a:xfrm>
            <a:off x="457200" y="548640"/>
            <a:ext cx="1097280" cy="1097280"/>
          </a:xfrm>
          <a:prstGeom prst="rect">
            <a:avLst/>
          </a:prstGeom>
          <a:noFill/>
          <a:ln/>
        </p:spPr>
        <p:txBody>
          <a:bodyPr wrap="square" rtlCol="0" anchor="t"/>
          <a:lstStyle/>
          <a:p>
            <a:pPr marL="0" indent="0">
              <a:buNone/>
            </a:pPr>
            <a:r>
              <a:rPr lang="en-US" sz="7200" b="1" dirty="0">
                <a:solidFill>
                  <a:srgbClr val="028090"/>
                </a:solidFill>
                <a:latin typeface="Georgia" pitchFamily="34" charset="0"/>
                <a:ea typeface="Georgia" pitchFamily="34" charset="-122"/>
                <a:cs typeface="Georgia" pitchFamily="34" charset="-120"/>
              </a:rPr>
              <a:t>1</a:t>
            </a:r>
            <a:endParaRPr lang="en-US" sz="7200" dirty="0"/>
          </a:p>
        </p:txBody>
      </p:sp>
      <p:sp>
        <p:nvSpPr>
          <p:cNvPr id="4" name="Text 2"/>
          <p:cNvSpPr/>
          <p:nvPr/>
        </p:nvSpPr>
        <p:spPr>
          <a:xfrm>
            <a:off x="457200" y="1645920"/>
            <a:ext cx="822960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Purpose</a:t>
            </a:r>
            <a:endParaRPr lang="en-US" sz="3600" dirty="0"/>
          </a:p>
        </p:txBody>
      </p:sp>
      <p:sp>
        <p:nvSpPr>
          <p:cNvPr id="5" name="Text 3"/>
          <p:cNvSpPr/>
          <p:nvPr/>
        </p:nvSpPr>
        <p:spPr>
          <a:xfrm>
            <a:off x="457200" y="2834640"/>
            <a:ext cx="7772400" cy="914400"/>
          </a:xfrm>
          <a:prstGeom prst="rect">
            <a:avLst/>
          </a:prstGeom>
          <a:noFill/>
          <a:ln/>
        </p:spPr>
        <p:txBody>
          <a:bodyPr wrap="square" rtlCol="0" anchor="t"/>
          <a:lstStyle/>
          <a:p>
            <a:pPr marL="0" indent="0">
              <a:buNone/>
            </a:pPr>
            <a:r>
              <a:rPr lang="en-US" sz="1600" i="1" dirty="0">
                <a:solidFill>
                  <a:srgbClr val="9ECFC8"/>
                </a:solidFill>
                <a:latin typeface="Calibri" pitchFamily="34" charset="0"/>
                <a:ea typeface="Calibri" pitchFamily="34" charset="-122"/>
                <a:cs typeface="Calibri" pitchFamily="34" charset="-120"/>
              </a:rPr>
              <a:t>What is this model for?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3B2E"/>
          </a:solidFill>
          <a:ln/>
        </p:spPr>
        <p:txBody>
          <a:bodyPr/>
          <a:lstStyle/>
          <a:p>
            <a:endParaRPr lang="en-US"/>
          </a:p>
        </p:txBody>
      </p:sp>
      <p:sp>
        <p:nvSpPr>
          <p:cNvPr id="3" name="Shape 1"/>
          <p:cNvSpPr/>
          <p:nvPr/>
        </p:nvSpPr>
        <p:spPr>
          <a:xfrm>
            <a:off x="0" y="0"/>
            <a:ext cx="201168" cy="5143500"/>
          </a:xfrm>
          <a:prstGeom prst="rect">
            <a:avLst/>
          </a:prstGeom>
          <a:solidFill>
            <a:srgbClr val="028090"/>
          </a:solidFill>
          <a:ln/>
        </p:spPr>
        <p:txBody>
          <a:bodyPr/>
          <a:lstStyle/>
          <a:p>
            <a:endParaRPr lang="en-US"/>
          </a:p>
        </p:txBody>
      </p:sp>
      <p:sp>
        <p:nvSpPr>
          <p:cNvPr id="4" name="Text 2"/>
          <p:cNvSpPr/>
          <p:nvPr/>
        </p:nvSpPr>
        <p:spPr>
          <a:xfrm>
            <a:off x="457200" y="91440"/>
            <a:ext cx="8229600" cy="45720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1 · Purpose</a:t>
            </a:r>
            <a:endParaRPr lang="en-US" sz="1600" dirty="0"/>
          </a:p>
        </p:txBody>
      </p:sp>
      <p:sp>
        <p:nvSpPr>
          <p:cNvPr id="5" name="Text 3"/>
          <p:cNvSpPr/>
          <p:nvPr/>
        </p:nvSpPr>
        <p:spPr>
          <a:xfrm>
            <a:off x="457200" y="777240"/>
            <a:ext cx="8229600" cy="685800"/>
          </a:xfrm>
          <a:prstGeom prst="rect">
            <a:avLst/>
          </a:prstGeom>
          <a:noFill/>
          <a:ln/>
        </p:spPr>
        <p:txBody>
          <a:bodyPr wrap="square" rtlCol="0" anchor="t"/>
          <a:lstStyle/>
          <a:p>
            <a:pPr marL="0" indent="0">
              <a:buNone/>
            </a:pPr>
            <a:r>
              <a:rPr lang="en-US" sz="1300" dirty="0">
                <a:solidFill>
                  <a:srgbClr val="5C7B72"/>
                </a:solidFill>
                <a:latin typeface="Calibri" pitchFamily="34" charset="0"/>
                <a:ea typeface="Calibri" pitchFamily="34" charset="-122"/>
                <a:cs typeface="Calibri" pitchFamily="34" charset="-120"/>
              </a:rPr>
              <a:t>The Cali Fund distributes biodiversity finance among countries that are Parties to the Convention on Biological Diversity (CBD). This model produces indicative, illustrative shares — not binding entitlements — to support negotiations.</a:t>
            </a:r>
            <a:endParaRPr lang="en-US" sz="1300" dirty="0"/>
          </a:p>
        </p:txBody>
      </p:sp>
      <p:sp>
        <p:nvSpPr>
          <p:cNvPr id="6" name="Shape 4"/>
          <p:cNvSpPr/>
          <p:nvPr/>
        </p:nvSpPr>
        <p:spPr>
          <a:xfrm>
            <a:off x="457200" y="1554480"/>
            <a:ext cx="3931920" cy="1234440"/>
          </a:xfrm>
          <a:prstGeom prst="rect">
            <a:avLst/>
          </a:prstGeom>
          <a:solidFill>
            <a:srgbClr val="FFFFFF"/>
          </a:solidFill>
          <a:ln w="12700">
            <a:solidFill>
              <a:srgbClr val="CBCAC0"/>
            </a:solidFill>
            <a:prstDash val="solid"/>
          </a:ln>
        </p:spPr>
        <p:txBody>
          <a:bodyPr/>
          <a:lstStyle/>
          <a:p>
            <a:endParaRPr lang="en-US"/>
          </a:p>
        </p:txBody>
      </p:sp>
      <p:sp>
        <p:nvSpPr>
          <p:cNvPr id="7" name="Text 5"/>
          <p:cNvSpPr/>
          <p:nvPr/>
        </p:nvSpPr>
        <p:spPr>
          <a:xfrm>
            <a:off x="566928" y="1645920"/>
            <a:ext cx="3712464" cy="256032"/>
          </a:xfrm>
          <a:prstGeom prst="rect">
            <a:avLst/>
          </a:prstGeom>
          <a:noFill/>
          <a:ln/>
        </p:spPr>
        <p:txBody>
          <a:bodyPr wrap="square" lIns="0" tIns="0" rIns="0" bIns="0" rtlCol="0" anchor="ctr"/>
          <a:lstStyle/>
          <a:p>
            <a:pPr marL="0" indent="0">
              <a:buNone/>
            </a:pPr>
            <a:r>
              <a:rPr lang="en-US" sz="1000" b="1" dirty="0">
                <a:solidFill>
                  <a:srgbClr val="1A5C47"/>
                </a:solidFill>
                <a:latin typeface="Calibri" pitchFamily="34" charset="0"/>
                <a:ea typeface="Calibri" pitchFamily="34" charset="-122"/>
                <a:cs typeface="Calibri" pitchFamily="34" charset="-120"/>
              </a:rPr>
              <a:t>Core principle</a:t>
            </a:r>
            <a:endParaRPr lang="en-US" sz="1000" dirty="0"/>
          </a:p>
        </p:txBody>
      </p:sp>
      <p:sp>
        <p:nvSpPr>
          <p:cNvPr id="8" name="Text 6"/>
          <p:cNvSpPr/>
          <p:nvPr/>
        </p:nvSpPr>
        <p:spPr>
          <a:xfrm>
            <a:off x="566928" y="1901952"/>
            <a:ext cx="3712464" cy="777240"/>
          </a:xfrm>
          <a:prstGeom prst="rect">
            <a:avLst/>
          </a:prstGeom>
          <a:noFill/>
          <a:ln/>
        </p:spPr>
        <p:txBody>
          <a:bodyPr wrap="square" lIns="0" tIns="0" rIns="0" bIns="0" rtlCol="0" anchor="t"/>
          <a:lstStyle/>
          <a:p>
            <a:pPr marL="0" indent="0">
              <a:buNone/>
            </a:pPr>
            <a:r>
              <a:rPr lang="en-US" sz="1100" dirty="0">
                <a:solidFill>
                  <a:srgbClr val="2C5F2D"/>
                </a:solidFill>
                <a:latin typeface="Calibri" pitchFamily="34" charset="0"/>
                <a:ea typeface="Calibri" pitchFamily="34" charset="-122"/>
                <a:cs typeface="Calibri" pitchFamily="34" charset="-120"/>
              </a:rPr>
              <a:t>Countries that contribute less to the UN budget receive proportionally more from this fund</a:t>
            </a:r>
            <a:endParaRPr lang="en-US" sz="1100" dirty="0"/>
          </a:p>
        </p:txBody>
      </p:sp>
      <p:sp>
        <p:nvSpPr>
          <p:cNvPr id="9" name="Shape 7"/>
          <p:cNvSpPr/>
          <p:nvPr/>
        </p:nvSpPr>
        <p:spPr>
          <a:xfrm>
            <a:off x="4754880" y="1554480"/>
            <a:ext cx="3931920" cy="1234440"/>
          </a:xfrm>
          <a:prstGeom prst="rect">
            <a:avLst/>
          </a:prstGeom>
          <a:solidFill>
            <a:srgbClr val="FFFFFF"/>
          </a:solidFill>
          <a:ln w="12700">
            <a:solidFill>
              <a:srgbClr val="CBCAC0"/>
            </a:solidFill>
            <a:prstDash val="solid"/>
          </a:ln>
        </p:spPr>
        <p:txBody>
          <a:bodyPr/>
          <a:lstStyle/>
          <a:p>
            <a:endParaRPr lang="en-US" dirty="0"/>
          </a:p>
        </p:txBody>
      </p:sp>
      <p:sp>
        <p:nvSpPr>
          <p:cNvPr id="10" name="Text 8"/>
          <p:cNvSpPr/>
          <p:nvPr/>
        </p:nvSpPr>
        <p:spPr>
          <a:xfrm>
            <a:off x="4864608" y="1645920"/>
            <a:ext cx="3712464" cy="256032"/>
          </a:xfrm>
          <a:prstGeom prst="rect">
            <a:avLst/>
          </a:prstGeom>
          <a:noFill/>
          <a:ln/>
        </p:spPr>
        <p:txBody>
          <a:bodyPr wrap="square" lIns="0" tIns="0" rIns="0" bIns="0" rtlCol="0" anchor="ctr"/>
          <a:lstStyle/>
          <a:p>
            <a:pPr marL="0" indent="0">
              <a:buNone/>
            </a:pPr>
            <a:r>
              <a:rPr lang="en-US" sz="1000" b="1" dirty="0">
                <a:solidFill>
                  <a:srgbClr val="1A5C47"/>
                </a:solidFill>
                <a:latin typeface="Calibri" pitchFamily="34" charset="0"/>
                <a:ea typeface="Calibri" pitchFamily="34" charset="-122"/>
                <a:cs typeface="Calibri" pitchFamily="34" charset="-120"/>
              </a:rPr>
              <a:t>Special Considerations</a:t>
            </a:r>
            <a:endParaRPr lang="en-US" sz="1000" dirty="0"/>
          </a:p>
        </p:txBody>
      </p:sp>
      <p:sp>
        <p:nvSpPr>
          <p:cNvPr id="11" name="Text 9"/>
          <p:cNvSpPr/>
          <p:nvPr/>
        </p:nvSpPr>
        <p:spPr>
          <a:xfrm>
            <a:off x="4864608" y="1901952"/>
            <a:ext cx="3712464" cy="777240"/>
          </a:xfrm>
          <a:prstGeom prst="rect">
            <a:avLst/>
          </a:prstGeom>
          <a:noFill/>
          <a:ln/>
        </p:spPr>
        <p:txBody>
          <a:bodyPr wrap="square" lIns="0" tIns="0" rIns="0" bIns="0" rtlCol="0" anchor="t"/>
          <a:lstStyle/>
          <a:p>
            <a:pPr marL="0" indent="0">
              <a:buNone/>
            </a:pPr>
            <a:r>
              <a:rPr lang="en-US" sz="1100" dirty="0">
                <a:solidFill>
                  <a:srgbClr val="2C5F2D"/>
                </a:solidFill>
                <a:latin typeface="Calibri" pitchFamily="34" charset="0"/>
                <a:ea typeface="Calibri" pitchFamily="34" charset="-122"/>
                <a:cs typeface="Calibri" pitchFamily="34" charset="-120"/>
              </a:rPr>
              <a:t>Least Developed Countries, Small Island Developing States, and Indigenous Peoples &amp; Local Communities all receive targeted support. Countries with larger terrestrial biodiversity responsibilities are recognised.</a:t>
            </a:r>
            <a:endParaRPr lang="en-US" sz="1100" dirty="0"/>
          </a:p>
        </p:txBody>
      </p:sp>
      <p:sp>
        <p:nvSpPr>
          <p:cNvPr id="12" name="Shape 10"/>
          <p:cNvSpPr/>
          <p:nvPr/>
        </p:nvSpPr>
        <p:spPr>
          <a:xfrm>
            <a:off x="457200" y="2926080"/>
            <a:ext cx="54864" cy="594360"/>
          </a:xfrm>
          <a:prstGeom prst="rect">
            <a:avLst/>
          </a:prstGeom>
          <a:solidFill>
            <a:srgbClr val="028090"/>
          </a:solidFill>
          <a:ln/>
        </p:spPr>
        <p:txBody>
          <a:bodyPr/>
          <a:lstStyle/>
          <a:p>
            <a:endParaRPr lang="en-US"/>
          </a:p>
        </p:txBody>
      </p:sp>
      <p:sp>
        <p:nvSpPr>
          <p:cNvPr id="13" name="Shape 11"/>
          <p:cNvSpPr/>
          <p:nvPr/>
        </p:nvSpPr>
        <p:spPr>
          <a:xfrm>
            <a:off x="512064" y="2926080"/>
            <a:ext cx="8174736" cy="594360"/>
          </a:xfrm>
          <a:prstGeom prst="rect">
            <a:avLst/>
          </a:prstGeom>
          <a:solidFill>
            <a:srgbClr val="EAF6F5"/>
          </a:solidFill>
          <a:ln w="6350">
            <a:solidFill>
              <a:srgbClr val="C0E4DF"/>
            </a:solidFill>
            <a:prstDash val="solid"/>
          </a:ln>
        </p:spPr>
        <p:txBody>
          <a:bodyPr/>
          <a:lstStyle/>
          <a:p>
            <a:endParaRPr lang="en-US"/>
          </a:p>
        </p:txBody>
      </p:sp>
      <p:sp>
        <p:nvSpPr>
          <p:cNvPr id="14" name="Text 12"/>
          <p:cNvSpPr/>
          <p:nvPr/>
        </p:nvSpPr>
        <p:spPr>
          <a:xfrm>
            <a:off x="621792" y="2971800"/>
            <a:ext cx="8001000" cy="502920"/>
          </a:xfrm>
          <a:prstGeom prst="rect">
            <a:avLst/>
          </a:prstGeom>
          <a:noFill/>
          <a:ln/>
        </p:spPr>
        <p:txBody>
          <a:bodyPr wrap="square" lIns="0" tIns="0" rIns="0" bIns="0" rtlCol="0" anchor="t"/>
          <a:lstStyle/>
          <a:p>
            <a:pPr marL="0" indent="0">
              <a:buNone/>
            </a:pPr>
            <a:r>
              <a:rPr lang="en-US" sz="1100" dirty="0">
                <a:solidFill>
                  <a:srgbClr val="1A5C47"/>
                </a:solidFill>
                <a:latin typeface="Calibri" pitchFamily="34" charset="0"/>
                <a:ea typeface="Calibri" pitchFamily="34" charset="-122"/>
                <a:cs typeface="Calibri" pitchFamily="34" charset="-120"/>
              </a:rPr>
              <a:t>The model uses the UN Scale of Assessments 2025–2027 as its input — a widely-accepted measure of countries' relative economic capacity.</a:t>
            </a:r>
            <a:endParaRPr lang="en-US" sz="1100" dirty="0"/>
          </a:p>
        </p:txBody>
      </p:sp>
      <p:sp>
        <p:nvSpPr>
          <p:cNvPr id="15" name="Shape 13"/>
          <p:cNvSpPr/>
          <p:nvPr/>
        </p:nvSpPr>
        <p:spPr>
          <a:xfrm>
            <a:off x="457200" y="3703320"/>
            <a:ext cx="1920240" cy="1005840"/>
          </a:xfrm>
          <a:prstGeom prst="rect">
            <a:avLst/>
          </a:prstGeom>
          <a:solidFill>
            <a:srgbClr val="E6F1FB"/>
          </a:solidFill>
          <a:ln w="6350">
            <a:solidFill>
              <a:srgbClr val="CBCAC0"/>
            </a:solidFill>
            <a:prstDash val="solid"/>
          </a:ln>
        </p:spPr>
        <p:txBody>
          <a:bodyPr/>
          <a:lstStyle/>
          <a:p>
            <a:endParaRPr lang="en-US"/>
          </a:p>
        </p:txBody>
      </p:sp>
      <p:sp>
        <p:nvSpPr>
          <p:cNvPr id="16" name="Text 14"/>
          <p:cNvSpPr/>
          <p:nvPr/>
        </p:nvSpPr>
        <p:spPr>
          <a:xfrm>
            <a:off x="548640" y="3749040"/>
            <a:ext cx="1737360" cy="274320"/>
          </a:xfrm>
          <a:prstGeom prst="rect">
            <a:avLst/>
          </a:prstGeom>
          <a:noFill/>
          <a:ln/>
        </p:spPr>
        <p:txBody>
          <a:bodyPr wrap="square" lIns="0" tIns="0" rIns="0" bIns="0" rtlCol="0" anchor="ctr"/>
          <a:lstStyle/>
          <a:p>
            <a:pPr marL="0" indent="0">
              <a:buNone/>
            </a:pPr>
            <a:r>
              <a:rPr lang="en-US" sz="1100" b="1" dirty="0">
                <a:solidFill>
                  <a:srgbClr val="0C447C"/>
                </a:solidFill>
                <a:latin typeface="Calibri" pitchFamily="34" charset="0"/>
                <a:ea typeface="Calibri" pitchFamily="34" charset="-122"/>
                <a:cs typeface="Calibri" pitchFamily="34" charset="-120"/>
              </a:rPr>
              <a:t>Fund size</a:t>
            </a:r>
            <a:endParaRPr lang="en-US" sz="1100" dirty="0"/>
          </a:p>
        </p:txBody>
      </p:sp>
      <p:sp>
        <p:nvSpPr>
          <p:cNvPr id="17" name="Text 15"/>
          <p:cNvSpPr/>
          <p:nvPr/>
        </p:nvSpPr>
        <p:spPr>
          <a:xfrm>
            <a:off x="548640" y="4041648"/>
            <a:ext cx="1737360" cy="594360"/>
          </a:xfrm>
          <a:prstGeom prst="rect">
            <a:avLst/>
          </a:prstGeom>
          <a:noFill/>
          <a:ln/>
        </p:spPr>
        <p:txBody>
          <a:bodyPr wrap="square" lIns="0" tIns="0" rIns="0" bIns="0" rtlCol="0" anchor="t"/>
          <a:lstStyle/>
          <a:p>
            <a:pPr marL="0" indent="0">
              <a:buNone/>
            </a:pPr>
            <a:r>
              <a:rPr lang="en-US" sz="1000" dirty="0">
                <a:solidFill>
                  <a:srgbClr val="5C7B72"/>
                </a:solidFill>
                <a:latin typeface="Calibri" pitchFamily="34" charset="0"/>
                <a:ea typeface="Calibri" pitchFamily="34" charset="-122"/>
                <a:cs typeface="Calibri" pitchFamily="34" charset="-120"/>
              </a:rPr>
              <a:t>Sets the total annual pot in USD</a:t>
            </a:r>
            <a:endParaRPr lang="en-US" sz="1000" dirty="0"/>
          </a:p>
        </p:txBody>
      </p:sp>
      <p:sp>
        <p:nvSpPr>
          <p:cNvPr id="18" name="Shape 16"/>
          <p:cNvSpPr/>
          <p:nvPr/>
        </p:nvSpPr>
        <p:spPr>
          <a:xfrm>
            <a:off x="2560320" y="3703320"/>
            <a:ext cx="1920240" cy="1005840"/>
          </a:xfrm>
          <a:prstGeom prst="rect">
            <a:avLst/>
          </a:prstGeom>
          <a:solidFill>
            <a:srgbClr val="E1F5EE"/>
          </a:solidFill>
          <a:ln w="6350">
            <a:solidFill>
              <a:srgbClr val="CBCAC0"/>
            </a:solidFill>
            <a:prstDash val="solid"/>
          </a:ln>
        </p:spPr>
        <p:txBody>
          <a:bodyPr/>
          <a:lstStyle/>
          <a:p>
            <a:endParaRPr lang="en-US"/>
          </a:p>
        </p:txBody>
      </p:sp>
      <p:sp>
        <p:nvSpPr>
          <p:cNvPr id="19" name="Text 17"/>
          <p:cNvSpPr/>
          <p:nvPr/>
        </p:nvSpPr>
        <p:spPr>
          <a:xfrm>
            <a:off x="2651760" y="3749040"/>
            <a:ext cx="1737360" cy="274320"/>
          </a:xfrm>
          <a:prstGeom prst="rect">
            <a:avLst/>
          </a:prstGeom>
          <a:noFill/>
          <a:ln/>
        </p:spPr>
        <p:txBody>
          <a:bodyPr wrap="square" lIns="0" tIns="0" rIns="0" bIns="0" rtlCol="0" anchor="ctr"/>
          <a:lstStyle/>
          <a:p>
            <a:pPr marL="0" indent="0">
              <a:buNone/>
            </a:pPr>
            <a:r>
              <a:rPr lang="en-US" sz="1100" b="1" dirty="0">
                <a:solidFill>
                  <a:srgbClr val="085041"/>
                </a:solidFill>
                <a:latin typeface="Calibri" pitchFamily="34" charset="0"/>
                <a:ea typeface="Calibri" pitchFamily="34" charset="-122"/>
                <a:cs typeface="Calibri" pitchFamily="34" charset="-120"/>
              </a:rPr>
              <a:t>Terrestrial Stewardship</a:t>
            </a:r>
            <a:endParaRPr lang="en-US" sz="1100" dirty="0"/>
          </a:p>
        </p:txBody>
      </p:sp>
      <p:sp>
        <p:nvSpPr>
          <p:cNvPr id="20" name="Text 18"/>
          <p:cNvSpPr/>
          <p:nvPr/>
        </p:nvSpPr>
        <p:spPr>
          <a:xfrm>
            <a:off x="2651760" y="4041648"/>
            <a:ext cx="1737360" cy="594360"/>
          </a:xfrm>
          <a:prstGeom prst="rect">
            <a:avLst/>
          </a:prstGeom>
          <a:noFill/>
          <a:ln/>
        </p:spPr>
        <p:txBody>
          <a:bodyPr wrap="square" lIns="0" tIns="0" rIns="0" bIns="0" rtlCol="0" anchor="t"/>
          <a:lstStyle/>
          <a:p>
            <a:pPr marL="0" indent="0">
              <a:buNone/>
            </a:pPr>
            <a:r>
              <a:rPr lang="en-US" sz="1000" dirty="0" err="1">
                <a:solidFill>
                  <a:srgbClr val="5C7B72"/>
                </a:solidFill>
                <a:latin typeface="Calibri" pitchFamily="34" charset="0"/>
                <a:ea typeface="Calibri" pitchFamily="34" charset="-122"/>
                <a:cs typeface="Calibri" pitchFamily="34" charset="-120"/>
              </a:rPr>
              <a:t>Recognises</a:t>
            </a:r>
            <a:r>
              <a:rPr lang="en-US" sz="1000" dirty="0">
                <a:solidFill>
                  <a:srgbClr val="5C7B72"/>
                </a:solidFill>
                <a:latin typeface="Calibri" pitchFamily="34" charset="0"/>
                <a:ea typeface="Calibri" pitchFamily="34" charset="-122"/>
                <a:cs typeface="Calibri" pitchFamily="34" charset="-120"/>
              </a:rPr>
              <a:t> that some countries have large terrestrial biodiversity responsibilities</a:t>
            </a:r>
            <a:endParaRPr lang="en-US" sz="1000" dirty="0"/>
          </a:p>
        </p:txBody>
      </p:sp>
      <p:sp>
        <p:nvSpPr>
          <p:cNvPr id="21" name="Shape 19"/>
          <p:cNvSpPr/>
          <p:nvPr/>
        </p:nvSpPr>
        <p:spPr>
          <a:xfrm>
            <a:off x="4663440" y="3703320"/>
            <a:ext cx="1920240" cy="1005840"/>
          </a:xfrm>
          <a:prstGeom prst="rect">
            <a:avLst/>
          </a:prstGeom>
          <a:solidFill>
            <a:srgbClr val="FAEEDA"/>
          </a:solidFill>
          <a:ln w="6350">
            <a:solidFill>
              <a:srgbClr val="CBCAC0"/>
            </a:solidFill>
            <a:prstDash val="solid"/>
          </a:ln>
        </p:spPr>
        <p:txBody>
          <a:bodyPr/>
          <a:lstStyle/>
          <a:p>
            <a:endParaRPr lang="en-US" dirty="0"/>
          </a:p>
        </p:txBody>
      </p:sp>
      <p:sp>
        <p:nvSpPr>
          <p:cNvPr id="22" name="Text 20"/>
          <p:cNvSpPr/>
          <p:nvPr/>
        </p:nvSpPr>
        <p:spPr>
          <a:xfrm>
            <a:off x="4754880" y="3749040"/>
            <a:ext cx="1737360" cy="274320"/>
          </a:xfrm>
          <a:prstGeom prst="rect">
            <a:avLst/>
          </a:prstGeom>
          <a:noFill/>
          <a:ln/>
        </p:spPr>
        <p:txBody>
          <a:bodyPr wrap="square" lIns="0" tIns="0" rIns="0" bIns="0" rtlCol="0" anchor="ctr"/>
          <a:lstStyle/>
          <a:p>
            <a:pPr marL="0" indent="0">
              <a:buNone/>
            </a:pPr>
            <a:r>
              <a:rPr lang="en-US" sz="1100" b="1">
                <a:solidFill>
                  <a:srgbClr val="633806"/>
                </a:solidFill>
                <a:latin typeface="Calibri" pitchFamily="34" charset="0"/>
                <a:ea typeface="Calibri" pitchFamily="34" charset="-122"/>
                <a:cs typeface="Calibri" pitchFamily="34" charset="-120"/>
              </a:rPr>
              <a:t>SIDS </a:t>
            </a:r>
            <a:r>
              <a:rPr lang="en-US" sz="1100" b="1" dirty="0">
                <a:solidFill>
                  <a:srgbClr val="633806"/>
                </a:solidFill>
                <a:latin typeface="Calibri" pitchFamily="34" charset="0"/>
                <a:ea typeface="Calibri" pitchFamily="34" charset="-122"/>
                <a:cs typeface="Calibri" pitchFamily="34" charset="-120"/>
              </a:rPr>
              <a:t>Ocean Stewardship</a:t>
            </a:r>
            <a:endParaRPr lang="en-US" sz="1100" dirty="0"/>
          </a:p>
        </p:txBody>
      </p:sp>
      <p:sp>
        <p:nvSpPr>
          <p:cNvPr id="23" name="Text 21"/>
          <p:cNvSpPr/>
          <p:nvPr/>
        </p:nvSpPr>
        <p:spPr>
          <a:xfrm>
            <a:off x="4754880" y="4041648"/>
            <a:ext cx="1737360" cy="594360"/>
          </a:xfrm>
          <a:prstGeom prst="rect">
            <a:avLst/>
          </a:prstGeom>
          <a:noFill/>
          <a:ln/>
        </p:spPr>
        <p:txBody>
          <a:bodyPr wrap="square" lIns="0" tIns="0" rIns="0" bIns="0" rtlCol="0" anchor="t"/>
          <a:lstStyle/>
          <a:p>
            <a:pPr marL="0" indent="0">
              <a:buNone/>
            </a:pPr>
            <a:r>
              <a:rPr lang="en-US" sz="1000" dirty="0">
                <a:solidFill>
                  <a:srgbClr val="5C7B72"/>
                </a:solidFill>
                <a:latin typeface="Calibri" pitchFamily="34" charset="0"/>
                <a:ea typeface="Calibri" pitchFamily="34" charset="-122"/>
                <a:cs typeface="Calibri" pitchFamily="34" charset="-120"/>
              </a:rPr>
              <a:t>Reserves a pool for UN Small Island Developing States in recognition of Ocean Stewardship</a:t>
            </a:r>
            <a:endParaRPr lang="en-US" sz="1000" dirty="0"/>
          </a:p>
        </p:txBody>
      </p:sp>
      <p:sp>
        <p:nvSpPr>
          <p:cNvPr id="24" name="Shape 22"/>
          <p:cNvSpPr/>
          <p:nvPr/>
        </p:nvSpPr>
        <p:spPr>
          <a:xfrm>
            <a:off x="6766560" y="3703320"/>
            <a:ext cx="1920240" cy="1005840"/>
          </a:xfrm>
          <a:prstGeom prst="rect">
            <a:avLst/>
          </a:prstGeom>
          <a:solidFill>
            <a:srgbClr val="EEEDFE"/>
          </a:solidFill>
          <a:ln w="6350">
            <a:solidFill>
              <a:srgbClr val="CBCAC0"/>
            </a:solidFill>
            <a:prstDash val="solid"/>
          </a:ln>
        </p:spPr>
        <p:txBody>
          <a:bodyPr/>
          <a:lstStyle/>
          <a:p>
            <a:endParaRPr lang="en-US" dirty="0"/>
          </a:p>
        </p:txBody>
      </p:sp>
      <p:sp>
        <p:nvSpPr>
          <p:cNvPr id="25" name="Text 23"/>
          <p:cNvSpPr/>
          <p:nvPr/>
        </p:nvSpPr>
        <p:spPr>
          <a:xfrm>
            <a:off x="6858000" y="3749040"/>
            <a:ext cx="1737360" cy="274320"/>
          </a:xfrm>
          <a:prstGeom prst="rect">
            <a:avLst/>
          </a:prstGeom>
          <a:noFill/>
          <a:ln/>
        </p:spPr>
        <p:txBody>
          <a:bodyPr wrap="square" lIns="0" tIns="0" rIns="0" bIns="0" rtlCol="0" anchor="ctr"/>
          <a:lstStyle/>
          <a:p>
            <a:pPr marL="0" indent="0">
              <a:buNone/>
            </a:pPr>
            <a:r>
              <a:rPr lang="en-US" sz="1100" b="1" dirty="0">
                <a:solidFill>
                  <a:srgbClr val="3C3489"/>
                </a:solidFill>
                <a:latin typeface="Calibri" pitchFamily="34" charset="0"/>
                <a:ea typeface="Calibri" pitchFamily="34" charset="-122"/>
                <a:cs typeface="Calibri" pitchFamily="34" charset="-120"/>
              </a:rPr>
              <a:t>IPLC share</a:t>
            </a:r>
            <a:endParaRPr lang="en-US" sz="1100" dirty="0"/>
          </a:p>
        </p:txBody>
      </p:sp>
      <p:sp>
        <p:nvSpPr>
          <p:cNvPr id="26" name="Text 24"/>
          <p:cNvSpPr/>
          <p:nvPr/>
        </p:nvSpPr>
        <p:spPr>
          <a:xfrm>
            <a:off x="6858000" y="4041648"/>
            <a:ext cx="1737360" cy="594360"/>
          </a:xfrm>
          <a:prstGeom prst="rect">
            <a:avLst/>
          </a:prstGeom>
          <a:noFill/>
          <a:ln/>
        </p:spPr>
        <p:txBody>
          <a:bodyPr wrap="square" lIns="0" tIns="0" rIns="0" bIns="0" rtlCol="0" anchor="t"/>
          <a:lstStyle/>
          <a:p>
            <a:pPr marL="0" indent="0">
              <a:buNone/>
            </a:pPr>
            <a:r>
              <a:rPr lang="en-US" sz="1000" dirty="0">
                <a:solidFill>
                  <a:srgbClr val="5C7B72"/>
                </a:solidFill>
                <a:latin typeface="Calibri" pitchFamily="34" charset="0"/>
                <a:ea typeface="Calibri" pitchFamily="34" charset="-122"/>
                <a:cs typeface="Calibri" pitchFamily="34" charset="-120"/>
              </a:rPr>
              <a:t>Splits each allocation between governments and IPLCs. Does not address disbursement pathways. </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3B2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8090"/>
          </a:solidFill>
          <a:ln/>
        </p:spPr>
        <p:txBody>
          <a:bodyPr/>
          <a:lstStyle/>
          <a:p>
            <a:endParaRPr lang="en-US"/>
          </a:p>
        </p:txBody>
      </p:sp>
      <p:sp>
        <p:nvSpPr>
          <p:cNvPr id="3" name="Text 1"/>
          <p:cNvSpPr/>
          <p:nvPr/>
        </p:nvSpPr>
        <p:spPr>
          <a:xfrm>
            <a:off x="457200" y="548640"/>
            <a:ext cx="1097280" cy="1097280"/>
          </a:xfrm>
          <a:prstGeom prst="rect">
            <a:avLst/>
          </a:prstGeom>
          <a:noFill/>
          <a:ln/>
        </p:spPr>
        <p:txBody>
          <a:bodyPr wrap="square" rtlCol="0" anchor="t"/>
          <a:lstStyle/>
          <a:p>
            <a:pPr marL="0" indent="0">
              <a:buNone/>
            </a:pPr>
            <a:r>
              <a:rPr lang="en-US" sz="7200" b="1" dirty="0">
                <a:solidFill>
                  <a:srgbClr val="028090"/>
                </a:solidFill>
                <a:latin typeface="Georgia" pitchFamily="34" charset="0"/>
                <a:ea typeface="Georgia" pitchFamily="34" charset="-122"/>
                <a:cs typeface="Georgia" pitchFamily="34" charset="-120"/>
              </a:rPr>
              <a:t>2</a:t>
            </a:r>
            <a:endParaRPr lang="en-US" sz="7200" dirty="0"/>
          </a:p>
        </p:txBody>
      </p:sp>
      <p:sp>
        <p:nvSpPr>
          <p:cNvPr id="4" name="Text 2"/>
          <p:cNvSpPr/>
          <p:nvPr/>
        </p:nvSpPr>
        <p:spPr>
          <a:xfrm>
            <a:off x="457200" y="1645920"/>
            <a:ext cx="822960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The Formula</a:t>
            </a:r>
            <a:endParaRPr lang="en-US" sz="3600" dirty="0"/>
          </a:p>
        </p:txBody>
      </p:sp>
      <p:sp>
        <p:nvSpPr>
          <p:cNvPr id="5" name="Text 3"/>
          <p:cNvSpPr/>
          <p:nvPr/>
        </p:nvSpPr>
        <p:spPr>
          <a:xfrm>
            <a:off x="457200" y="2834640"/>
            <a:ext cx="7772400" cy="914400"/>
          </a:xfrm>
          <a:prstGeom prst="rect">
            <a:avLst/>
          </a:prstGeom>
          <a:noFill/>
          <a:ln/>
        </p:spPr>
        <p:txBody>
          <a:bodyPr wrap="square" rtlCol="0" anchor="t"/>
          <a:lstStyle/>
          <a:p>
            <a:pPr marL="0" indent="0">
              <a:buNone/>
            </a:pPr>
            <a:r>
              <a:rPr lang="en-US" sz="1600" i="1" dirty="0">
                <a:solidFill>
                  <a:srgbClr val="9ECFC8"/>
                </a:solidFill>
                <a:latin typeface="Calibri" pitchFamily="34" charset="0"/>
                <a:ea typeface="Calibri" pitchFamily="34" charset="-122"/>
                <a:cs typeface="Calibri" pitchFamily="34" charset="-120"/>
              </a:rPr>
              <a:t>One foundation. Two adjustments.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3B2E"/>
          </a:solidFill>
          <a:ln/>
        </p:spPr>
        <p:txBody>
          <a:bodyPr/>
          <a:lstStyle/>
          <a:p>
            <a:endParaRPr lang="en-US"/>
          </a:p>
        </p:txBody>
      </p:sp>
      <p:sp>
        <p:nvSpPr>
          <p:cNvPr id="3" name="Shape 1"/>
          <p:cNvSpPr/>
          <p:nvPr/>
        </p:nvSpPr>
        <p:spPr>
          <a:xfrm>
            <a:off x="0" y="0"/>
            <a:ext cx="201168" cy="5143500"/>
          </a:xfrm>
          <a:prstGeom prst="rect">
            <a:avLst/>
          </a:prstGeom>
          <a:solidFill>
            <a:srgbClr val="028090"/>
          </a:solidFill>
          <a:ln/>
        </p:spPr>
        <p:txBody>
          <a:bodyPr/>
          <a:lstStyle/>
          <a:p>
            <a:endParaRPr lang="en-US"/>
          </a:p>
        </p:txBody>
      </p:sp>
      <p:sp>
        <p:nvSpPr>
          <p:cNvPr id="4" name="Text 2"/>
          <p:cNvSpPr/>
          <p:nvPr/>
        </p:nvSpPr>
        <p:spPr>
          <a:xfrm>
            <a:off x="457200" y="91440"/>
            <a:ext cx="8229600" cy="45720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2 · The Formula</a:t>
            </a:r>
            <a:endParaRPr lang="en-US" sz="1600" dirty="0"/>
          </a:p>
        </p:txBody>
      </p:sp>
      <p:sp>
        <p:nvSpPr>
          <p:cNvPr id="5" name="Text 3"/>
          <p:cNvSpPr/>
          <p:nvPr/>
        </p:nvSpPr>
        <p:spPr>
          <a:xfrm>
            <a:off x="457200" y="777240"/>
            <a:ext cx="8229600" cy="411480"/>
          </a:xfrm>
          <a:prstGeom prst="rect">
            <a:avLst/>
          </a:prstGeom>
          <a:noFill/>
          <a:ln/>
        </p:spPr>
        <p:txBody>
          <a:bodyPr wrap="square" rtlCol="0" anchor="ctr"/>
          <a:lstStyle/>
          <a:p>
            <a:pPr marL="0" indent="0">
              <a:buNone/>
            </a:pPr>
            <a:r>
              <a:rPr lang="en-US" sz="1300" dirty="0">
                <a:solidFill>
                  <a:srgbClr val="5C7B72"/>
                </a:solidFill>
                <a:latin typeface="Calibri" pitchFamily="34" charset="0"/>
                <a:ea typeface="Calibri" pitchFamily="34" charset="-122"/>
                <a:cs typeface="Calibri" pitchFamily="34" charset="-120"/>
              </a:rPr>
              <a:t>The model has one foundation and two adjustments that together determine every country's share.</a:t>
            </a:r>
            <a:endParaRPr lang="en-US" sz="1300" dirty="0"/>
          </a:p>
        </p:txBody>
      </p:sp>
      <p:sp>
        <p:nvSpPr>
          <p:cNvPr id="6" name="Shape 4"/>
          <p:cNvSpPr/>
          <p:nvPr/>
        </p:nvSpPr>
        <p:spPr>
          <a:xfrm>
            <a:off x="457200" y="1280160"/>
            <a:ext cx="8229600" cy="1234440"/>
          </a:xfrm>
          <a:prstGeom prst="rect">
            <a:avLst/>
          </a:prstGeom>
          <a:solidFill>
            <a:srgbClr val="FFFFFF"/>
          </a:solidFill>
          <a:ln w="6350">
            <a:solidFill>
              <a:srgbClr val="CBCAC0"/>
            </a:solidFill>
            <a:prstDash val="solid"/>
          </a:ln>
        </p:spPr>
        <p:txBody>
          <a:bodyPr/>
          <a:lstStyle/>
          <a:p>
            <a:endParaRPr lang="en-US"/>
          </a:p>
        </p:txBody>
      </p:sp>
      <p:sp>
        <p:nvSpPr>
          <p:cNvPr id="7" name="Text 5"/>
          <p:cNvSpPr/>
          <p:nvPr/>
        </p:nvSpPr>
        <p:spPr>
          <a:xfrm>
            <a:off x="594360" y="1353312"/>
            <a:ext cx="7955280" cy="1097280"/>
          </a:xfrm>
          <a:prstGeom prst="rect">
            <a:avLst/>
          </a:prstGeom>
          <a:noFill/>
          <a:ln/>
        </p:spPr>
        <p:txBody>
          <a:bodyPr wrap="square" lIns="0" tIns="0" rIns="0" bIns="0" rtlCol="0" anchor="ctr"/>
          <a:lstStyle/>
          <a:p>
            <a:pPr marL="0" indent="0">
              <a:buNone/>
            </a:pPr>
            <a:r>
              <a:rPr lang="en-US" sz="1300" dirty="0">
                <a:solidFill>
                  <a:srgbClr val="3B3B39"/>
                </a:solidFill>
              </a:rPr>
              <a:t>Each country's share  =  </a:t>
            </a:r>
            <a:r>
              <a:rPr lang="en-US" sz="1300" b="1" dirty="0">
                <a:solidFill>
                  <a:srgbClr val="0C447C"/>
                </a:solidFill>
              </a:rPr>
              <a:t>Inverted UN Scale of Assessment Foundation (IUSAF)</a:t>
            </a:r>
            <a:r>
              <a:rPr lang="en-US" sz="1200" dirty="0">
                <a:solidFill>
                  <a:srgbClr val="5C7B72"/>
                </a:solidFill>
              </a:rPr>
              <a:t>  — the base</a:t>
            </a:r>
            <a:r>
              <a:rPr lang="en-US" sz="1300" dirty="0">
                <a:solidFill>
                  <a:srgbClr val="000000"/>
                </a:solidFill>
              </a:rPr>
              <a:t>
</a:t>
            </a:r>
            <a:endParaRPr lang="en-US" sz="1300" dirty="0"/>
          </a:p>
          <a:p>
            <a:pPr marL="0" indent="0">
              <a:buNone/>
            </a:pPr>
            <a:r>
              <a:rPr lang="en-US" sz="1300" dirty="0">
                <a:solidFill>
                  <a:srgbClr val="3B3B39"/>
                </a:solidFill>
              </a:rPr>
              <a:t>  +  </a:t>
            </a:r>
            <a:r>
              <a:rPr lang="en-US" sz="1300" b="1" dirty="0">
                <a:solidFill>
                  <a:srgbClr val="085041"/>
                </a:solidFill>
              </a:rPr>
              <a:t>Terrestrial Stewardship Allocation Component (TSAC)</a:t>
            </a:r>
            <a:r>
              <a:rPr lang="en-US" sz="1200" dirty="0">
                <a:solidFill>
                  <a:srgbClr val="5C7B72"/>
                </a:solidFill>
              </a:rPr>
              <a:t>  — adjustment for large countries</a:t>
            </a:r>
            <a:r>
              <a:rPr lang="en-US" sz="1300" dirty="0">
                <a:solidFill>
                  <a:srgbClr val="000000"/>
                </a:solidFill>
              </a:rPr>
              <a:t>
</a:t>
            </a:r>
            <a:endParaRPr lang="en-US" sz="1300" dirty="0"/>
          </a:p>
          <a:p>
            <a:pPr marL="0" indent="0">
              <a:buNone/>
            </a:pPr>
            <a:r>
              <a:rPr lang="en-US" sz="1300" dirty="0">
                <a:solidFill>
                  <a:srgbClr val="3B3B39"/>
                </a:solidFill>
              </a:rPr>
              <a:t>  +  </a:t>
            </a:r>
            <a:r>
              <a:rPr lang="en-US" sz="1300" b="1" dirty="0">
                <a:solidFill>
                  <a:srgbClr val="633806"/>
                </a:solidFill>
              </a:rPr>
              <a:t>SIDS Ocean Stewardship Allocation Component (SOSAC)</a:t>
            </a:r>
            <a:r>
              <a:rPr lang="en-US" sz="1200" dirty="0">
                <a:solidFill>
                  <a:srgbClr val="5C7B72"/>
                </a:solidFill>
              </a:rPr>
              <a:t>  — adjustment for Small Island Developing States</a:t>
            </a:r>
            <a:endParaRPr lang="en-US" sz="1300" dirty="0"/>
          </a:p>
        </p:txBody>
      </p:sp>
      <p:sp>
        <p:nvSpPr>
          <p:cNvPr id="8" name="Shape 6"/>
          <p:cNvSpPr/>
          <p:nvPr/>
        </p:nvSpPr>
        <p:spPr>
          <a:xfrm>
            <a:off x="457200" y="2651760"/>
            <a:ext cx="2606040" cy="1325880"/>
          </a:xfrm>
          <a:prstGeom prst="rect">
            <a:avLst/>
          </a:prstGeom>
          <a:solidFill>
            <a:srgbClr val="E6F1FB"/>
          </a:solidFill>
          <a:ln w="12700">
            <a:solidFill>
              <a:srgbClr val="378ADD"/>
            </a:solidFill>
            <a:prstDash val="solid"/>
          </a:ln>
        </p:spPr>
        <p:txBody>
          <a:bodyPr/>
          <a:lstStyle/>
          <a:p>
            <a:endParaRPr lang="en-US"/>
          </a:p>
        </p:txBody>
      </p:sp>
      <p:sp>
        <p:nvSpPr>
          <p:cNvPr id="9" name="Text 7"/>
          <p:cNvSpPr/>
          <p:nvPr/>
        </p:nvSpPr>
        <p:spPr>
          <a:xfrm>
            <a:off x="566928" y="2743200"/>
            <a:ext cx="2386584" cy="256032"/>
          </a:xfrm>
          <a:prstGeom prst="rect">
            <a:avLst/>
          </a:prstGeom>
          <a:noFill/>
          <a:ln/>
        </p:spPr>
        <p:txBody>
          <a:bodyPr wrap="square" lIns="0" tIns="0" rIns="0" bIns="0" rtlCol="0" anchor="ctr"/>
          <a:lstStyle/>
          <a:p>
            <a:pPr marL="0" indent="0">
              <a:buNone/>
            </a:pPr>
            <a:r>
              <a:rPr lang="en-US" sz="1000" b="1" dirty="0">
                <a:solidFill>
                  <a:srgbClr val="0C447C"/>
                </a:solidFill>
                <a:latin typeface="Calibri" pitchFamily="34" charset="0"/>
                <a:ea typeface="Calibri" pitchFamily="34" charset="-122"/>
                <a:cs typeface="Calibri" pitchFamily="34" charset="-120"/>
              </a:rPr>
              <a:t>IUSAF · Foundation</a:t>
            </a:r>
            <a:endParaRPr lang="en-US" sz="1000" dirty="0"/>
          </a:p>
        </p:txBody>
      </p:sp>
      <p:sp>
        <p:nvSpPr>
          <p:cNvPr id="10" name="Text 8"/>
          <p:cNvSpPr/>
          <p:nvPr/>
        </p:nvSpPr>
        <p:spPr>
          <a:xfrm>
            <a:off x="566928" y="2999232"/>
            <a:ext cx="2386584" cy="868680"/>
          </a:xfrm>
          <a:prstGeom prst="rect">
            <a:avLst/>
          </a:prstGeom>
          <a:noFill/>
          <a:ln/>
        </p:spPr>
        <p:txBody>
          <a:bodyPr wrap="square" lIns="0" tIns="0" rIns="0" bIns="0" rtlCol="0" anchor="t"/>
          <a:lstStyle/>
          <a:p>
            <a:pPr marL="0" indent="0">
              <a:buNone/>
            </a:pPr>
            <a:r>
              <a:rPr lang="en-US" sz="1100" dirty="0">
                <a:solidFill>
                  <a:srgbClr val="185FA5"/>
                </a:solidFill>
                <a:latin typeface="Calibri" pitchFamily="34" charset="0"/>
                <a:ea typeface="Calibri" pitchFamily="34" charset="-122"/>
                <a:cs typeface="Calibri" pitchFamily="34" charset="-120"/>
              </a:rPr>
              <a:t>The core equity engine. Inverts UN budget shares so smaller contributors receive a larger fund share. All allocations start here. </a:t>
            </a:r>
            <a:r>
              <a:rPr lang="en-US" sz="1100" dirty="0" err="1">
                <a:solidFill>
                  <a:srgbClr val="185FA5"/>
                </a:solidFill>
                <a:latin typeface="Calibri" pitchFamily="34" charset="0"/>
                <a:ea typeface="Calibri" pitchFamily="34" charset="-122"/>
                <a:cs typeface="Calibri" pitchFamily="34" charset="-120"/>
              </a:rPr>
              <a:t>Recognises</a:t>
            </a:r>
            <a:r>
              <a:rPr lang="en-US" sz="1100" dirty="0">
                <a:solidFill>
                  <a:srgbClr val="185FA5"/>
                </a:solidFill>
                <a:latin typeface="Calibri" pitchFamily="34" charset="0"/>
                <a:ea typeface="Calibri" pitchFamily="34" charset="-122"/>
                <a:cs typeface="Calibri" pitchFamily="34" charset="-120"/>
              </a:rPr>
              <a:t> LDCs and lower income and lower middle-income Parties.</a:t>
            </a:r>
            <a:endParaRPr lang="en-US" sz="1100" dirty="0"/>
          </a:p>
        </p:txBody>
      </p:sp>
      <p:sp>
        <p:nvSpPr>
          <p:cNvPr id="11" name="Shape 9"/>
          <p:cNvSpPr/>
          <p:nvPr/>
        </p:nvSpPr>
        <p:spPr>
          <a:xfrm>
            <a:off x="3273552" y="2651760"/>
            <a:ext cx="2606040" cy="1325880"/>
          </a:xfrm>
          <a:prstGeom prst="rect">
            <a:avLst/>
          </a:prstGeom>
          <a:solidFill>
            <a:srgbClr val="E1F5EE"/>
          </a:solidFill>
          <a:ln w="12700">
            <a:solidFill>
              <a:srgbClr val="1D9E75"/>
            </a:solidFill>
            <a:prstDash val="solid"/>
          </a:ln>
        </p:spPr>
        <p:txBody>
          <a:bodyPr/>
          <a:lstStyle/>
          <a:p>
            <a:endParaRPr lang="en-US"/>
          </a:p>
        </p:txBody>
      </p:sp>
      <p:sp>
        <p:nvSpPr>
          <p:cNvPr id="12" name="Text 10"/>
          <p:cNvSpPr/>
          <p:nvPr/>
        </p:nvSpPr>
        <p:spPr>
          <a:xfrm>
            <a:off x="3383280" y="2743200"/>
            <a:ext cx="2386584" cy="256032"/>
          </a:xfrm>
          <a:prstGeom prst="rect">
            <a:avLst/>
          </a:prstGeom>
          <a:noFill/>
          <a:ln/>
        </p:spPr>
        <p:txBody>
          <a:bodyPr wrap="square" lIns="0" tIns="0" rIns="0" bIns="0" rtlCol="0" anchor="ctr"/>
          <a:lstStyle/>
          <a:p>
            <a:pPr marL="0" indent="0">
              <a:buNone/>
            </a:pPr>
            <a:r>
              <a:rPr lang="en-US" sz="1000" b="1" dirty="0">
                <a:solidFill>
                  <a:srgbClr val="085041"/>
                </a:solidFill>
                <a:latin typeface="Calibri" pitchFamily="34" charset="0"/>
                <a:ea typeface="Calibri" pitchFamily="34" charset="-122"/>
                <a:cs typeface="Calibri" pitchFamily="34" charset="-120"/>
              </a:rPr>
              <a:t>TSAC · Adjustment</a:t>
            </a:r>
            <a:endParaRPr lang="en-US" sz="1000" dirty="0"/>
          </a:p>
        </p:txBody>
      </p:sp>
      <p:sp>
        <p:nvSpPr>
          <p:cNvPr id="13" name="Text 11"/>
          <p:cNvSpPr/>
          <p:nvPr/>
        </p:nvSpPr>
        <p:spPr>
          <a:xfrm>
            <a:off x="3383280" y="2999232"/>
            <a:ext cx="2386584" cy="868680"/>
          </a:xfrm>
          <a:prstGeom prst="rect">
            <a:avLst/>
          </a:prstGeom>
          <a:noFill/>
          <a:ln/>
        </p:spPr>
        <p:txBody>
          <a:bodyPr wrap="square" lIns="0" tIns="0" rIns="0" bIns="0" rtlCol="0" anchor="t"/>
          <a:lstStyle/>
          <a:p>
            <a:pPr marL="0" indent="0">
              <a:buNone/>
            </a:pPr>
            <a:r>
              <a:rPr lang="en-US" sz="1100" dirty="0">
                <a:solidFill>
                  <a:srgbClr val="0F6E56"/>
                </a:solidFill>
                <a:latin typeface="Calibri" pitchFamily="34" charset="0"/>
                <a:ea typeface="Calibri" pitchFamily="34" charset="-122"/>
                <a:cs typeface="Calibri" pitchFamily="34" charset="-120"/>
              </a:rPr>
              <a:t>Recognises the terrestrial biodiversity stewardship responsibilities of countries with large land areas.</a:t>
            </a:r>
            <a:endParaRPr lang="en-US" sz="1100" dirty="0"/>
          </a:p>
        </p:txBody>
      </p:sp>
      <p:sp>
        <p:nvSpPr>
          <p:cNvPr id="14" name="Shape 12"/>
          <p:cNvSpPr/>
          <p:nvPr/>
        </p:nvSpPr>
        <p:spPr>
          <a:xfrm>
            <a:off x="6080760" y="2651760"/>
            <a:ext cx="2606040" cy="1325880"/>
          </a:xfrm>
          <a:prstGeom prst="rect">
            <a:avLst/>
          </a:prstGeom>
          <a:solidFill>
            <a:srgbClr val="FAEEDA"/>
          </a:solidFill>
          <a:ln w="12700">
            <a:solidFill>
              <a:srgbClr val="EF9F27"/>
            </a:solidFill>
            <a:prstDash val="solid"/>
          </a:ln>
        </p:spPr>
        <p:txBody>
          <a:bodyPr/>
          <a:lstStyle/>
          <a:p>
            <a:endParaRPr lang="en-US"/>
          </a:p>
        </p:txBody>
      </p:sp>
      <p:sp>
        <p:nvSpPr>
          <p:cNvPr id="15" name="Text 13"/>
          <p:cNvSpPr/>
          <p:nvPr/>
        </p:nvSpPr>
        <p:spPr>
          <a:xfrm>
            <a:off x="6190488" y="2743200"/>
            <a:ext cx="2386584" cy="256032"/>
          </a:xfrm>
          <a:prstGeom prst="rect">
            <a:avLst/>
          </a:prstGeom>
          <a:noFill/>
          <a:ln/>
        </p:spPr>
        <p:txBody>
          <a:bodyPr wrap="square" lIns="0" tIns="0" rIns="0" bIns="0" rtlCol="0" anchor="ctr"/>
          <a:lstStyle/>
          <a:p>
            <a:pPr marL="0" indent="0">
              <a:buNone/>
            </a:pPr>
            <a:r>
              <a:rPr lang="en-US" sz="1000" b="1" dirty="0">
                <a:solidFill>
                  <a:srgbClr val="633806"/>
                </a:solidFill>
                <a:latin typeface="Calibri" pitchFamily="34" charset="0"/>
                <a:ea typeface="Calibri" pitchFamily="34" charset="-122"/>
                <a:cs typeface="Calibri" pitchFamily="34" charset="-120"/>
              </a:rPr>
              <a:t>SOSAC · Adjustment</a:t>
            </a:r>
            <a:endParaRPr lang="en-US" sz="1000" dirty="0"/>
          </a:p>
        </p:txBody>
      </p:sp>
      <p:sp>
        <p:nvSpPr>
          <p:cNvPr id="16" name="Text 14"/>
          <p:cNvSpPr/>
          <p:nvPr/>
        </p:nvSpPr>
        <p:spPr>
          <a:xfrm>
            <a:off x="6190488" y="2999232"/>
            <a:ext cx="2386584" cy="868680"/>
          </a:xfrm>
          <a:prstGeom prst="rect">
            <a:avLst/>
          </a:prstGeom>
          <a:noFill/>
          <a:ln/>
        </p:spPr>
        <p:txBody>
          <a:bodyPr wrap="square" lIns="0" tIns="0" rIns="0" bIns="0" rtlCol="0" anchor="t"/>
          <a:lstStyle/>
          <a:p>
            <a:pPr marL="0" indent="0">
              <a:buNone/>
            </a:pPr>
            <a:r>
              <a:rPr lang="en-US" sz="1100" dirty="0">
                <a:solidFill>
                  <a:srgbClr val="854F0B"/>
                </a:solidFill>
                <a:latin typeface="Calibri" pitchFamily="34" charset="0"/>
                <a:ea typeface="Calibri" pitchFamily="34" charset="-122"/>
                <a:cs typeface="Calibri" pitchFamily="34" charset="-120"/>
              </a:rPr>
              <a:t>Recognises the ocean stewardship responsibilities and structural constraints of Small Island Developing States.</a:t>
            </a:r>
            <a:endParaRPr lang="en-US" sz="1100" dirty="0"/>
          </a:p>
        </p:txBody>
      </p:sp>
      <p:sp>
        <p:nvSpPr>
          <p:cNvPr id="17" name="Shape 15"/>
          <p:cNvSpPr/>
          <p:nvPr/>
        </p:nvSpPr>
        <p:spPr>
          <a:xfrm>
            <a:off x="457200" y="4114800"/>
            <a:ext cx="54864" cy="594360"/>
          </a:xfrm>
          <a:prstGeom prst="rect">
            <a:avLst/>
          </a:prstGeom>
          <a:solidFill>
            <a:srgbClr val="028090"/>
          </a:solidFill>
          <a:ln/>
        </p:spPr>
        <p:txBody>
          <a:bodyPr/>
          <a:lstStyle/>
          <a:p>
            <a:endParaRPr lang="en-US"/>
          </a:p>
        </p:txBody>
      </p:sp>
      <p:sp>
        <p:nvSpPr>
          <p:cNvPr id="18" name="Shape 16"/>
          <p:cNvSpPr/>
          <p:nvPr/>
        </p:nvSpPr>
        <p:spPr>
          <a:xfrm>
            <a:off x="512064" y="4114800"/>
            <a:ext cx="8174736" cy="594360"/>
          </a:xfrm>
          <a:prstGeom prst="rect">
            <a:avLst/>
          </a:prstGeom>
          <a:solidFill>
            <a:srgbClr val="EAF6F5"/>
          </a:solidFill>
          <a:ln w="6350">
            <a:solidFill>
              <a:srgbClr val="C0E4DF"/>
            </a:solidFill>
            <a:prstDash val="solid"/>
          </a:ln>
        </p:spPr>
        <p:txBody>
          <a:bodyPr/>
          <a:lstStyle/>
          <a:p>
            <a:endParaRPr lang="en-US"/>
          </a:p>
        </p:txBody>
      </p:sp>
      <p:sp>
        <p:nvSpPr>
          <p:cNvPr id="19" name="Text 17"/>
          <p:cNvSpPr/>
          <p:nvPr/>
        </p:nvSpPr>
        <p:spPr>
          <a:xfrm>
            <a:off x="621792" y="4160520"/>
            <a:ext cx="8001000" cy="502920"/>
          </a:xfrm>
          <a:prstGeom prst="rect">
            <a:avLst/>
          </a:prstGeom>
          <a:noFill/>
          <a:ln/>
        </p:spPr>
        <p:txBody>
          <a:bodyPr wrap="square" lIns="0" tIns="0" rIns="0" bIns="0" rtlCol="0" anchor="t"/>
          <a:lstStyle/>
          <a:p>
            <a:pPr marL="0" indent="0">
              <a:buNone/>
            </a:pPr>
            <a:r>
              <a:rPr lang="en-US" sz="1100" dirty="0">
                <a:solidFill>
                  <a:srgbClr val="1A5C47"/>
                </a:solidFill>
                <a:latin typeface="Calibri" pitchFamily="34" charset="0"/>
                <a:ea typeface="Calibri" pitchFamily="34" charset="-122"/>
                <a:cs typeface="Calibri" pitchFamily="34" charset="-120"/>
              </a:rPr>
              <a:t>IUSAF is the foundation. TSAC and SOSAC are adjustments — any weight given to them reallocates money away from the IUSAF base. It is a matter for Parties to agree the appropriate balance between the IUSAF foundation, TSAC and SOSAC.</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3B2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8090"/>
          </a:solidFill>
          <a:ln/>
        </p:spPr>
        <p:txBody>
          <a:bodyPr/>
          <a:lstStyle/>
          <a:p>
            <a:endParaRPr lang="en-US"/>
          </a:p>
        </p:txBody>
      </p:sp>
      <p:sp>
        <p:nvSpPr>
          <p:cNvPr id="3" name="Text 1"/>
          <p:cNvSpPr/>
          <p:nvPr/>
        </p:nvSpPr>
        <p:spPr>
          <a:xfrm>
            <a:off x="457200" y="548640"/>
            <a:ext cx="1097280" cy="1097280"/>
          </a:xfrm>
          <a:prstGeom prst="rect">
            <a:avLst/>
          </a:prstGeom>
          <a:noFill/>
          <a:ln/>
        </p:spPr>
        <p:txBody>
          <a:bodyPr wrap="square" rtlCol="0" anchor="t"/>
          <a:lstStyle/>
          <a:p>
            <a:pPr marL="0" indent="0">
              <a:buNone/>
            </a:pPr>
            <a:r>
              <a:rPr lang="en-US" sz="7200" b="1" dirty="0">
                <a:solidFill>
                  <a:srgbClr val="028090"/>
                </a:solidFill>
                <a:latin typeface="Georgia" pitchFamily="34" charset="0"/>
                <a:ea typeface="Georgia" pitchFamily="34" charset="-122"/>
                <a:cs typeface="Georgia" pitchFamily="34" charset="-120"/>
              </a:rPr>
              <a:t>3</a:t>
            </a:r>
            <a:endParaRPr lang="en-US" sz="7200" dirty="0"/>
          </a:p>
        </p:txBody>
      </p:sp>
      <p:sp>
        <p:nvSpPr>
          <p:cNvPr id="4" name="Text 2"/>
          <p:cNvSpPr/>
          <p:nvPr/>
        </p:nvSpPr>
        <p:spPr>
          <a:xfrm>
            <a:off x="457200" y="1645920"/>
            <a:ext cx="822960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Establishing Equity</a:t>
            </a:r>
            <a:endParaRPr lang="en-US" sz="3600" dirty="0"/>
          </a:p>
        </p:txBody>
      </p:sp>
      <p:sp>
        <p:nvSpPr>
          <p:cNvPr id="5" name="Text 3"/>
          <p:cNvSpPr/>
          <p:nvPr/>
        </p:nvSpPr>
        <p:spPr>
          <a:xfrm>
            <a:off x="457200" y="2834640"/>
            <a:ext cx="7772400" cy="914400"/>
          </a:xfrm>
          <a:prstGeom prst="rect">
            <a:avLst/>
          </a:prstGeom>
          <a:noFill/>
          <a:ln/>
        </p:spPr>
        <p:txBody>
          <a:bodyPr wrap="square" rtlCol="0" anchor="t"/>
          <a:lstStyle/>
          <a:p>
            <a:pPr marL="0" indent="0">
              <a:buNone/>
            </a:pPr>
            <a:r>
              <a:rPr lang="en-US" sz="1600" i="1" dirty="0">
                <a:solidFill>
                  <a:srgbClr val="9ECFC8"/>
                </a:solidFill>
                <a:latin typeface="Calibri" pitchFamily="34" charset="0"/>
                <a:ea typeface="Calibri" pitchFamily="34" charset="-122"/>
                <a:cs typeface="Calibri" pitchFamily="34" charset="-120"/>
              </a:rPr>
              <a:t>IUSAF — the foundation of the model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3B2E"/>
          </a:solidFill>
          <a:ln/>
        </p:spPr>
        <p:txBody>
          <a:bodyPr/>
          <a:lstStyle/>
          <a:p>
            <a:endParaRPr lang="en-US"/>
          </a:p>
        </p:txBody>
      </p:sp>
      <p:sp>
        <p:nvSpPr>
          <p:cNvPr id="3" name="Shape 1"/>
          <p:cNvSpPr/>
          <p:nvPr/>
        </p:nvSpPr>
        <p:spPr>
          <a:xfrm>
            <a:off x="0" y="0"/>
            <a:ext cx="201168" cy="5143500"/>
          </a:xfrm>
          <a:prstGeom prst="rect">
            <a:avLst/>
          </a:prstGeom>
          <a:solidFill>
            <a:srgbClr val="028090"/>
          </a:solidFill>
          <a:ln/>
        </p:spPr>
        <p:txBody>
          <a:bodyPr/>
          <a:lstStyle/>
          <a:p>
            <a:endParaRPr lang="en-US"/>
          </a:p>
        </p:txBody>
      </p:sp>
      <p:sp>
        <p:nvSpPr>
          <p:cNvPr id="4" name="Text 2"/>
          <p:cNvSpPr/>
          <p:nvPr/>
        </p:nvSpPr>
        <p:spPr>
          <a:xfrm>
            <a:off x="457200" y="91440"/>
            <a:ext cx="8229600" cy="45720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3 · Establishing Equity (IUSAF)</a:t>
            </a:r>
            <a:endParaRPr lang="en-US" sz="1600" dirty="0"/>
          </a:p>
        </p:txBody>
      </p:sp>
      <p:sp>
        <p:nvSpPr>
          <p:cNvPr id="5" name="Text 3"/>
          <p:cNvSpPr/>
          <p:nvPr/>
        </p:nvSpPr>
        <p:spPr>
          <a:xfrm>
            <a:off x="457200" y="777240"/>
            <a:ext cx="8229600" cy="594360"/>
          </a:xfrm>
          <a:prstGeom prst="rect">
            <a:avLst/>
          </a:prstGeom>
          <a:noFill/>
          <a:ln/>
        </p:spPr>
        <p:txBody>
          <a:bodyPr wrap="square" rtlCol="0" anchor="ctr"/>
          <a:lstStyle/>
          <a:p>
            <a:pPr marL="0" indent="0">
              <a:buNone/>
            </a:pPr>
            <a:r>
              <a:rPr lang="en-US" sz="1300" dirty="0">
                <a:solidFill>
                  <a:srgbClr val="5C7B72"/>
                </a:solidFill>
                <a:latin typeface="Calibri" pitchFamily="34" charset="0"/>
                <a:ea typeface="Calibri" pitchFamily="34" charset="-122"/>
                <a:cs typeface="Calibri" pitchFamily="34" charset="-120"/>
              </a:rPr>
              <a:t>The UN Scale says how much each country contributes to the UN budget. The model flips this: the smaller your UN share, the larger your fund share. </a:t>
            </a:r>
            <a:r>
              <a:rPr lang="en-US" sz="1300" b="1" dirty="0">
                <a:solidFill>
                  <a:srgbClr val="0D3B2E"/>
                </a:solidFill>
                <a:latin typeface="Calibri" pitchFamily="34" charset="0"/>
                <a:ea typeface="Calibri" pitchFamily="34" charset="-122"/>
                <a:cs typeface="Calibri" pitchFamily="34" charset="-120"/>
              </a:rPr>
              <a:t>This is the foundation of the model.</a:t>
            </a:r>
            <a:endParaRPr lang="en-US" sz="1300" dirty="0"/>
          </a:p>
        </p:txBody>
      </p:sp>
      <p:sp>
        <p:nvSpPr>
          <p:cNvPr id="6" name="Shape 4"/>
          <p:cNvSpPr/>
          <p:nvPr/>
        </p:nvSpPr>
        <p:spPr>
          <a:xfrm>
            <a:off x="457200" y="1463040"/>
            <a:ext cx="8229600" cy="594360"/>
          </a:xfrm>
          <a:prstGeom prst="rect">
            <a:avLst/>
          </a:prstGeom>
          <a:solidFill>
            <a:srgbClr val="FFFFFF"/>
          </a:solidFill>
          <a:ln w="6350">
            <a:solidFill>
              <a:srgbClr val="CBCAC0"/>
            </a:solidFill>
            <a:prstDash val="solid"/>
          </a:ln>
        </p:spPr>
        <p:txBody>
          <a:bodyPr/>
          <a:lstStyle/>
          <a:p>
            <a:endParaRPr lang="en-US"/>
          </a:p>
        </p:txBody>
      </p:sp>
      <p:sp>
        <p:nvSpPr>
          <p:cNvPr id="7" name="Text 5"/>
          <p:cNvSpPr/>
          <p:nvPr/>
        </p:nvSpPr>
        <p:spPr>
          <a:xfrm>
            <a:off x="594360" y="1508760"/>
            <a:ext cx="7955280" cy="502920"/>
          </a:xfrm>
          <a:prstGeom prst="rect">
            <a:avLst/>
          </a:prstGeom>
          <a:noFill/>
          <a:ln/>
        </p:spPr>
        <p:txBody>
          <a:bodyPr wrap="square" lIns="0" tIns="0" rIns="0" bIns="0" rtlCol="0" anchor="ctr"/>
          <a:lstStyle/>
          <a:p>
            <a:pPr marL="0" indent="0">
              <a:buNone/>
            </a:pPr>
            <a:r>
              <a:rPr lang="en-US" sz="1400" dirty="0">
                <a:solidFill>
                  <a:srgbClr val="0D3B2E"/>
                </a:solidFill>
                <a:latin typeface="Calibri" pitchFamily="34" charset="0"/>
                <a:ea typeface="Calibri" pitchFamily="34" charset="-122"/>
                <a:cs typeface="Calibri" pitchFamily="34" charset="-120"/>
              </a:rPr>
              <a:t>Fund share  =  1 ÷ UN budget share   →   then rescaled so all shares add up to 100%</a:t>
            </a:r>
            <a:endParaRPr lang="en-US" sz="1400" dirty="0"/>
          </a:p>
        </p:txBody>
      </p:sp>
      <p:sp>
        <p:nvSpPr>
          <p:cNvPr id="8" name="Text 6"/>
          <p:cNvSpPr/>
          <p:nvPr/>
        </p:nvSpPr>
        <p:spPr>
          <a:xfrm>
            <a:off x="457200" y="2194560"/>
            <a:ext cx="8229600" cy="274320"/>
          </a:xfrm>
          <a:prstGeom prst="rect">
            <a:avLst/>
          </a:prstGeom>
          <a:noFill/>
          <a:ln/>
        </p:spPr>
        <p:txBody>
          <a:bodyPr wrap="square" rtlCol="0" anchor="ctr"/>
          <a:lstStyle/>
          <a:p>
            <a:pPr marL="0" indent="0">
              <a:buNone/>
            </a:pPr>
            <a:r>
              <a:rPr lang="en-US" sz="1100" i="1" dirty="0">
                <a:solidFill>
                  <a:srgbClr val="5C7B72"/>
                </a:solidFill>
                <a:latin typeface="Calibri" pitchFamily="34" charset="0"/>
                <a:ea typeface="Calibri" pitchFamily="34" charset="-122"/>
                <a:cs typeface="Calibri" pitchFamily="34" charset="-120"/>
              </a:rPr>
              <a:t>How inversion redistributes fund shares (illustrative):</a:t>
            </a:r>
            <a:endParaRPr lang="en-US" sz="1100" dirty="0"/>
          </a:p>
        </p:txBody>
      </p:sp>
      <p:sp>
        <p:nvSpPr>
          <p:cNvPr id="9" name="Text 7"/>
          <p:cNvSpPr/>
          <p:nvPr/>
        </p:nvSpPr>
        <p:spPr>
          <a:xfrm>
            <a:off x="457200" y="2542032"/>
            <a:ext cx="1097280" cy="365760"/>
          </a:xfrm>
          <a:prstGeom prst="rect">
            <a:avLst/>
          </a:prstGeom>
          <a:noFill/>
          <a:ln/>
        </p:spPr>
        <p:txBody>
          <a:bodyPr wrap="square" lIns="0" tIns="0" rIns="0" bIns="0" rtlCol="0" anchor="ctr"/>
          <a:lstStyle/>
          <a:p>
            <a:pPr marL="0" indent="0">
              <a:buNone/>
            </a:pPr>
            <a:r>
              <a:rPr lang="en-US" sz="1200" dirty="0">
                <a:solidFill>
                  <a:srgbClr val="0D3B2E"/>
                </a:solidFill>
                <a:latin typeface="Calibri" pitchFamily="34" charset="0"/>
                <a:ea typeface="Calibri" pitchFamily="34" charset="-122"/>
                <a:cs typeface="Calibri" pitchFamily="34" charset="-120"/>
              </a:rPr>
              <a:t>Country A</a:t>
            </a:r>
            <a:endParaRPr lang="en-US" sz="1200" dirty="0"/>
          </a:p>
        </p:txBody>
      </p:sp>
      <p:sp>
        <p:nvSpPr>
          <p:cNvPr id="10" name="Shape 8"/>
          <p:cNvSpPr/>
          <p:nvPr/>
        </p:nvSpPr>
        <p:spPr>
          <a:xfrm>
            <a:off x="1691640" y="2578608"/>
            <a:ext cx="4279392" cy="320040"/>
          </a:xfrm>
          <a:prstGeom prst="rect">
            <a:avLst/>
          </a:prstGeom>
          <a:solidFill>
            <a:srgbClr val="E6F1FB"/>
          </a:solidFill>
          <a:ln w="12700">
            <a:solidFill>
              <a:srgbClr val="378ADD"/>
            </a:solidFill>
            <a:prstDash val="solid"/>
          </a:ln>
        </p:spPr>
        <p:txBody>
          <a:bodyPr/>
          <a:lstStyle/>
          <a:p>
            <a:endParaRPr lang="en-US"/>
          </a:p>
        </p:txBody>
      </p:sp>
      <p:sp>
        <p:nvSpPr>
          <p:cNvPr id="11" name="Text 9"/>
          <p:cNvSpPr/>
          <p:nvPr/>
        </p:nvSpPr>
        <p:spPr>
          <a:xfrm>
            <a:off x="1783080" y="2578608"/>
            <a:ext cx="4187952" cy="320040"/>
          </a:xfrm>
          <a:prstGeom prst="rect">
            <a:avLst/>
          </a:prstGeom>
          <a:noFill/>
          <a:ln/>
        </p:spPr>
        <p:txBody>
          <a:bodyPr wrap="square" lIns="0" tIns="0" rIns="0" bIns="0" rtlCol="0" anchor="ctr"/>
          <a:lstStyle/>
          <a:p>
            <a:pPr marL="0" indent="0">
              <a:buNone/>
            </a:pPr>
            <a:r>
              <a:rPr lang="en-US" sz="1100" b="1" dirty="0">
                <a:solidFill>
                  <a:srgbClr val="378ADD"/>
                </a:solidFill>
                <a:latin typeface="Calibri" pitchFamily="34" charset="0"/>
                <a:ea typeface="Calibri" pitchFamily="34" charset="-122"/>
                <a:cs typeface="Calibri" pitchFamily="34" charset="-120"/>
              </a:rPr>
              <a:t>72% of fund</a:t>
            </a:r>
            <a:endParaRPr lang="en-US" sz="1100" dirty="0"/>
          </a:p>
        </p:txBody>
      </p:sp>
      <p:sp>
        <p:nvSpPr>
          <p:cNvPr id="12" name="Text 10"/>
          <p:cNvSpPr/>
          <p:nvPr/>
        </p:nvSpPr>
        <p:spPr>
          <a:xfrm>
            <a:off x="6035040" y="2542032"/>
            <a:ext cx="2743200" cy="365760"/>
          </a:xfrm>
          <a:prstGeom prst="rect">
            <a:avLst/>
          </a:prstGeom>
          <a:noFill/>
          <a:ln/>
        </p:spPr>
        <p:txBody>
          <a:bodyPr wrap="square" lIns="0" tIns="0" rIns="0" bIns="0" rtlCol="0" anchor="ctr"/>
          <a:lstStyle/>
          <a:p>
            <a:pPr marL="0" indent="0">
              <a:buNone/>
            </a:pPr>
            <a:r>
              <a:rPr lang="en-US" sz="1100" i="1" dirty="0">
                <a:solidFill>
                  <a:srgbClr val="5C7B72"/>
                </a:solidFill>
                <a:latin typeface="Calibri" pitchFamily="34" charset="0"/>
                <a:ea typeface="Calibri" pitchFamily="34" charset="-122"/>
                <a:cs typeface="Calibri" pitchFamily="34" charset="-120"/>
              </a:rPr>
              <a:t>Small UN contributor</a:t>
            </a:r>
            <a:endParaRPr lang="en-US" sz="1100" dirty="0"/>
          </a:p>
        </p:txBody>
      </p:sp>
      <p:sp>
        <p:nvSpPr>
          <p:cNvPr id="13" name="Text 11"/>
          <p:cNvSpPr/>
          <p:nvPr/>
        </p:nvSpPr>
        <p:spPr>
          <a:xfrm>
            <a:off x="457200" y="3108960"/>
            <a:ext cx="1097280" cy="365760"/>
          </a:xfrm>
          <a:prstGeom prst="rect">
            <a:avLst/>
          </a:prstGeom>
          <a:noFill/>
          <a:ln/>
        </p:spPr>
        <p:txBody>
          <a:bodyPr wrap="square" lIns="0" tIns="0" rIns="0" bIns="0" rtlCol="0" anchor="ctr"/>
          <a:lstStyle/>
          <a:p>
            <a:pPr marL="0" indent="0">
              <a:buNone/>
            </a:pPr>
            <a:r>
              <a:rPr lang="en-US" sz="1200" dirty="0">
                <a:solidFill>
                  <a:srgbClr val="0D3B2E"/>
                </a:solidFill>
                <a:latin typeface="Calibri" pitchFamily="34" charset="0"/>
                <a:ea typeface="Calibri" pitchFamily="34" charset="-122"/>
                <a:cs typeface="Calibri" pitchFamily="34" charset="-120"/>
              </a:rPr>
              <a:t>Country B</a:t>
            </a:r>
            <a:endParaRPr lang="en-US" sz="1200" dirty="0"/>
          </a:p>
        </p:txBody>
      </p:sp>
      <p:sp>
        <p:nvSpPr>
          <p:cNvPr id="14" name="Shape 12"/>
          <p:cNvSpPr/>
          <p:nvPr/>
        </p:nvSpPr>
        <p:spPr>
          <a:xfrm>
            <a:off x="1691640" y="3145536"/>
            <a:ext cx="1188720" cy="320040"/>
          </a:xfrm>
          <a:prstGeom prst="rect">
            <a:avLst/>
          </a:prstGeom>
          <a:solidFill>
            <a:srgbClr val="E1F5EE"/>
          </a:solidFill>
          <a:ln w="12700">
            <a:solidFill>
              <a:srgbClr val="1D9E75"/>
            </a:solidFill>
            <a:prstDash val="solid"/>
          </a:ln>
        </p:spPr>
        <p:txBody>
          <a:bodyPr/>
          <a:lstStyle/>
          <a:p>
            <a:endParaRPr lang="en-US"/>
          </a:p>
        </p:txBody>
      </p:sp>
      <p:sp>
        <p:nvSpPr>
          <p:cNvPr id="15" name="Text 13"/>
          <p:cNvSpPr/>
          <p:nvPr/>
        </p:nvSpPr>
        <p:spPr>
          <a:xfrm>
            <a:off x="1783080" y="3145536"/>
            <a:ext cx="1097280" cy="320040"/>
          </a:xfrm>
          <a:prstGeom prst="rect">
            <a:avLst/>
          </a:prstGeom>
          <a:noFill/>
          <a:ln/>
        </p:spPr>
        <p:txBody>
          <a:bodyPr wrap="square" lIns="0" tIns="0" rIns="0" bIns="0" rtlCol="0" anchor="ctr"/>
          <a:lstStyle/>
          <a:p>
            <a:pPr marL="0" indent="0">
              <a:buNone/>
            </a:pPr>
            <a:r>
              <a:rPr lang="en-US" sz="1100" b="1" dirty="0">
                <a:solidFill>
                  <a:srgbClr val="1D9E75"/>
                </a:solidFill>
                <a:latin typeface="Calibri" pitchFamily="34" charset="0"/>
                <a:ea typeface="Calibri" pitchFamily="34" charset="-122"/>
                <a:cs typeface="Calibri" pitchFamily="34" charset="-120"/>
              </a:rPr>
              <a:t>20% of fund</a:t>
            </a:r>
            <a:endParaRPr lang="en-US" sz="1100" dirty="0"/>
          </a:p>
        </p:txBody>
      </p:sp>
      <p:sp>
        <p:nvSpPr>
          <p:cNvPr id="16" name="Text 14"/>
          <p:cNvSpPr/>
          <p:nvPr/>
        </p:nvSpPr>
        <p:spPr>
          <a:xfrm>
            <a:off x="6035040" y="3108960"/>
            <a:ext cx="2743200" cy="365760"/>
          </a:xfrm>
          <a:prstGeom prst="rect">
            <a:avLst/>
          </a:prstGeom>
          <a:noFill/>
          <a:ln/>
        </p:spPr>
        <p:txBody>
          <a:bodyPr wrap="square" lIns="0" tIns="0" rIns="0" bIns="0" rtlCol="0" anchor="ctr"/>
          <a:lstStyle/>
          <a:p>
            <a:pPr marL="0" indent="0">
              <a:buNone/>
            </a:pPr>
            <a:r>
              <a:rPr lang="en-US" sz="1100" i="1" dirty="0">
                <a:solidFill>
                  <a:srgbClr val="5C7B72"/>
                </a:solidFill>
                <a:latin typeface="Calibri" pitchFamily="34" charset="0"/>
                <a:ea typeface="Calibri" pitchFamily="34" charset="-122"/>
                <a:cs typeface="Calibri" pitchFamily="34" charset="-120"/>
              </a:rPr>
              <a:t>Mid UN contributor</a:t>
            </a:r>
            <a:endParaRPr lang="en-US" sz="1100" dirty="0"/>
          </a:p>
        </p:txBody>
      </p:sp>
      <p:sp>
        <p:nvSpPr>
          <p:cNvPr id="17" name="Text 15"/>
          <p:cNvSpPr/>
          <p:nvPr/>
        </p:nvSpPr>
        <p:spPr>
          <a:xfrm>
            <a:off x="457200" y="3675888"/>
            <a:ext cx="1097280" cy="365760"/>
          </a:xfrm>
          <a:prstGeom prst="rect">
            <a:avLst/>
          </a:prstGeom>
          <a:noFill/>
          <a:ln/>
        </p:spPr>
        <p:txBody>
          <a:bodyPr wrap="square" lIns="0" tIns="0" rIns="0" bIns="0" rtlCol="0" anchor="ctr"/>
          <a:lstStyle/>
          <a:p>
            <a:pPr marL="0" indent="0">
              <a:buNone/>
            </a:pPr>
            <a:r>
              <a:rPr lang="en-US" sz="1200" dirty="0">
                <a:solidFill>
                  <a:srgbClr val="0D3B2E"/>
                </a:solidFill>
                <a:latin typeface="Calibri" pitchFamily="34" charset="0"/>
                <a:ea typeface="Calibri" pitchFamily="34" charset="-122"/>
                <a:cs typeface="Calibri" pitchFamily="34" charset="-120"/>
              </a:rPr>
              <a:t>Country C</a:t>
            </a:r>
            <a:endParaRPr lang="en-US" sz="1200" dirty="0"/>
          </a:p>
        </p:txBody>
      </p:sp>
      <p:sp>
        <p:nvSpPr>
          <p:cNvPr id="18" name="Shape 16"/>
          <p:cNvSpPr/>
          <p:nvPr/>
        </p:nvSpPr>
        <p:spPr>
          <a:xfrm>
            <a:off x="1691640" y="3712464"/>
            <a:ext cx="475488" cy="320040"/>
          </a:xfrm>
          <a:prstGeom prst="rect">
            <a:avLst/>
          </a:prstGeom>
          <a:solidFill>
            <a:srgbClr val="FAEEDA"/>
          </a:solidFill>
          <a:ln w="12700">
            <a:solidFill>
              <a:srgbClr val="EF9F27"/>
            </a:solidFill>
            <a:prstDash val="solid"/>
          </a:ln>
        </p:spPr>
        <p:txBody>
          <a:bodyPr/>
          <a:lstStyle/>
          <a:p>
            <a:endParaRPr lang="en-US"/>
          </a:p>
        </p:txBody>
      </p:sp>
      <p:sp>
        <p:nvSpPr>
          <p:cNvPr id="19" name="Text 17"/>
          <p:cNvSpPr/>
          <p:nvPr/>
        </p:nvSpPr>
        <p:spPr>
          <a:xfrm>
            <a:off x="1783080" y="3712464"/>
            <a:ext cx="384048" cy="320040"/>
          </a:xfrm>
          <a:prstGeom prst="rect">
            <a:avLst/>
          </a:prstGeom>
          <a:noFill/>
          <a:ln/>
        </p:spPr>
        <p:txBody>
          <a:bodyPr wrap="square" lIns="0" tIns="0" rIns="0" bIns="0" rtlCol="0" anchor="ctr"/>
          <a:lstStyle/>
          <a:p>
            <a:pPr marL="0" indent="0">
              <a:buNone/>
            </a:pPr>
            <a:r>
              <a:rPr lang="en-US" sz="1100" b="1" dirty="0">
                <a:solidFill>
                  <a:srgbClr val="EF9F27"/>
                </a:solidFill>
                <a:latin typeface="Calibri" pitchFamily="34" charset="0"/>
                <a:ea typeface="Calibri" pitchFamily="34" charset="-122"/>
                <a:cs typeface="Calibri" pitchFamily="34" charset="-120"/>
              </a:rPr>
              <a:t>8% of fund</a:t>
            </a:r>
            <a:endParaRPr lang="en-US" sz="1100" dirty="0"/>
          </a:p>
        </p:txBody>
      </p:sp>
      <p:sp>
        <p:nvSpPr>
          <p:cNvPr id="20" name="Text 18"/>
          <p:cNvSpPr/>
          <p:nvPr/>
        </p:nvSpPr>
        <p:spPr>
          <a:xfrm>
            <a:off x="6035040" y="3675888"/>
            <a:ext cx="2743200" cy="365760"/>
          </a:xfrm>
          <a:prstGeom prst="rect">
            <a:avLst/>
          </a:prstGeom>
          <a:noFill/>
          <a:ln/>
        </p:spPr>
        <p:txBody>
          <a:bodyPr wrap="square" lIns="0" tIns="0" rIns="0" bIns="0" rtlCol="0" anchor="ctr"/>
          <a:lstStyle/>
          <a:p>
            <a:pPr marL="0" indent="0">
              <a:buNone/>
            </a:pPr>
            <a:r>
              <a:rPr lang="en-US" sz="1100" i="1" dirty="0">
                <a:solidFill>
                  <a:srgbClr val="5C7B72"/>
                </a:solidFill>
                <a:latin typeface="Calibri" pitchFamily="34" charset="0"/>
                <a:ea typeface="Calibri" pitchFamily="34" charset="-122"/>
                <a:cs typeface="Calibri" pitchFamily="34" charset="-120"/>
              </a:rPr>
              <a:t>Large UN contributor</a:t>
            </a:r>
            <a:endParaRPr lang="en-US" sz="1100" dirty="0"/>
          </a:p>
        </p:txBody>
      </p:sp>
      <p:sp>
        <p:nvSpPr>
          <p:cNvPr id="21" name="Shape 19"/>
          <p:cNvSpPr/>
          <p:nvPr/>
        </p:nvSpPr>
        <p:spPr>
          <a:xfrm>
            <a:off x="457200" y="4251960"/>
            <a:ext cx="54864" cy="548640"/>
          </a:xfrm>
          <a:prstGeom prst="rect">
            <a:avLst/>
          </a:prstGeom>
          <a:solidFill>
            <a:srgbClr val="028090"/>
          </a:solidFill>
          <a:ln/>
        </p:spPr>
        <p:txBody>
          <a:bodyPr/>
          <a:lstStyle/>
          <a:p>
            <a:endParaRPr lang="en-US"/>
          </a:p>
        </p:txBody>
      </p:sp>
      <p:sp>
        <p:nvSpPr>
          <p:cNvPr id="22" name="Shape 20"/>
          <p:cNvSpPr/>
          <p:nvPr/>
        </p:nvSpPr>
        <p:spPr>
          <a:xfrm>
            <a:off x="512064" y="4251960"/>
            <a:ext cx="8174736" cy="548640"/>
          </a:xfrm>
          <a:prstGeom prst="rect">
            <a:avLst/>
          </a:prstGeom>
          <a:solidFill>
            <a:srgbClr val="EAF6F5"/>
          </a:solidFill>
          <a:ln w="6350">
            <a:solidFill>
              <a:srgbClr val="C0E4DF"/>
            </a:solidFill>
            <a:prstDash val="solid"/>
          </a:ln>
        </p:spPr>
        <p:txBody>
          <a:bodyPr/>
          <a:lstStyle/>
          <a:p>
            <a:endParaRPr lang="en-US" dirty="0"/>
          </a:p>
        </p:txBody>
      </p:sp>
      <p:sp>
        <p:nvSpPr>
          <p:cNvPr id="23" name="Text 21"/>
          <p:cNvSpPr/>
          <p:nvPr/>
        </p:nvSpPr>
        <p:spPr>
          <a:xfrm>
            <a:off x="621792" y="4297680"/>
            <a:ext cx="8001000" cy="457200"/>
          </a:xfrm>
          <a:prstGeom prst="rect">
            <a:avLst/>
          </a:prstGeom>
          <a:noFill/>
          <a:ln/>
        </p:spPr>
        <p:txBody>
          <a:bodyPr wrap="square" lIns="0" tIns="0" rIns="0" bIns="0" rtlCol="0" anchor="t"/>
          <a:lstStyle/>
          <a:p>
            <a:pPr marL="0" indent="0">
              <a:buNone/>
            </a:pPr>
            <a:r>
              <a:rPr lang="en-US" sz="1100" dirty="0">
                <a:solidFill>
                  <a:srgbClr val="1A5C47"/>
                </a:solidFill>
                <a:latin typeface="Calibri" pitchFamily="34" charset="0"/>
                <a:cs typeface="Calibri" pitchFamily="34" charset="-120"/>
              </a:rPr>
              <a:t>The objective of the inversion is to </a:t>
            </a:r>
            <a:r>
              <a:rPr lang="en-US" sz="1100" dirty="0" err="1">
                <a:solidFill>
                  <a:srgbClr val="1A5C47"/>
                </a:solidFill>
                <a:latin typeface="Calibri" pitchFamily="34" charset="0"/>
                <a:cs typeface="Calibri" pitchFamily="34" charset="-120"/>
              </a:rPr>
              <a:t>prioritise</a:t>
            </a:r>
            <a:r>
              <a:rPr lang="en-US" sz="1100" dirty="0">
                <a:solidFill>
                  <a:srgbClr val="1A5C47"/>
                </a:solidFill>
                <a:latin typeface="Calibri" pitchFamily="34" charset="0"/>
                <a:cs typeface="Calibri" pitchFamily="34" charset="-120"/>
              </a:rPr>
              <a:t> developing and least developed countries in Cali Fund allocations in accordance with Decision 16/2. Because inversion may produce extremes, countries are grouped into bands for more </a:t>
            </a:r>
            <a:r>
              <a:rPr lang="en-US" sz="1100">
                <a:solidFill>
                  <a:srgbClr val="1A5C47"/>
                </a:solidFill>
                <a:latin typeface="Calibri" pitchFamily="34" charset="0"/>
                <a:cs typeface="Calibri" pitchFamily="34" charset="-120"/>
              </a:rPr>
              <a:t>even allocations </a:t>
            </a:r>
            <a:r>
              <a:rPr lang="en-US" sz="1100" dirty="0">
                <a:solidFill>
                  <a:srgbClr val="1A5C47"/>
                </a:solidFill>
                <a:latin typeface="Calibri" pitchFamily="34" charset="0"/>
                <a:cs typeface="Calibri" pitchFamily="34" charset="-120"/>
              </a:rPr>
              <a:t>across developing countries.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3B2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8090"/>
          </a:solidFill>
          <a:ln/>
        </p:spPr>
        <p:txBody>
          <a:bodyPr/>
          <a:lstStyle/>
          <a:p>
            <a:endParaRPr lang="en-US"/>
          </a:p>
        </p:txBody>
      </p:sp>
      <p:sp>
        <p:nvSpPr>
          <p:cNvPr id="3" name="Text 1"/>
          <p:cNvSpPr/>
          <p:nvPr/>
        </p:nvSpPr>
        <p:spPr>
          <a:xfrm>
            <a:off x="457200" y="548640"/>
            <a:ext cx="1097280" cy="1097280"/>
          </a:xfrm>
          <a:prstGeom prst="rect">
            <a:avLst/>
          </a:prstGeom>
          <a:noFill/>
          <a:ln/>
        </p:spPr>
        <p:txBody>
          <a:bodyPr wrap="square" rtlCol="0" anchor="t"/>
          <a:lstStyle/>
          <a:p>
            <a:pPr marL="0" indent="0">
              <a:buNone/>
            </a:pPr>
            <a:r>
              <a:rPr lang="en-US" sz="7200" b="1" dirty="0">
                <a:solidFill>
                  <a:srgbClr val="028090"/>
                </a:solidFill>
                <a:latin typeface="Georgia" pitchFamily="34" charset="0"/>
                <a:ea typeface="Georgia" pitchFamily="34" charset="-122"/>
                <a:cs typeface="Georgia" pitchFamily="34" charset="-120"/>
              </a:rPr>
              <a:t>4</a:t>
            </a:r>
            <a:endParaRPr lang="en-US" sz="7200" dirty="0"/>
          </a:p>
        </p:txBody>
      </p:sp>
      <p:sp>
        <p:nvSpPr>
          <p:cNvPr id="4" name="Text 2"/>
          <p:cNvSpPr/>
          <p:nvPr/>
        </p:nvSpPr>
        <p:spPr>
          <a:xfrm>
            <a:off x="457200" y="1645920"/>
            <a:ext cx="822960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Recognising Stewardship</a:t>
            </a:r>
            <a:endParaRPr lang="en-US" sz="3600" dirty="0"/>
          </a:p>
        </p:txBody>
      </p:sp>
      <p:sp>
        <p:nvSpPr>
          <p:cNvPr id="5" name="Text 3"/>
          <p:cNvSpPr/>
          <p:nvPr/>
        </p:nvSpPr>
        <p:spPr>
          <a:xfrm>
            <a:off x="457200" y="2834640"/>
            <a:ext cx="7772400" cy="914400"/>
          </a:xfrm>
          <a:prstGeom prst="rect">
            <a:avLst/>
          </a:prstGeom>
          <a:noFill/>
          <a:ln/>
        </p:spPr>
        <p:txBody>
          <a:bodyPr wrap="square" rtlCol="0" anchor="t"/>
          <a:lstStyle/>
          <a:p>
            <a:pPr marL="0" indent="0">
              <a:buNone/>
            </a:pPr>
            <a:r>
              <a:rPr lang="en-US" sz="1600" i="1" dirty="0">
                <a:solidFill>
                  <a:srgbClr val="9ECFC8"/>
                </a:solidFill>
                <a:latin typeface="Calibri" pitchFamily="34" charset="0"/>
                <a:ea typeface="Calibri" pitchFamily="34" charset="-122"/>
                <a:cs typeface="Calibri" pitchFamily="34" charset="-120"/>
              </a:rPr>
              <a:t>TSAC &amp; SOSAC — adjustments for different biodiversity responsibilities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3B2E"/>
          </a:solidFill>
          <a:ln/>
        </p:spPr>
        <p:txBody>
          <a:bodyPr/>
          <a:lstStyle/>
          <a:p>
            <a:endParaRPr lang="en-US"/>
          </a:p>
        </p:txBody>
      </p:sp>
      <p:sp>
        <p:nvSpPr>
          <p:cNvPr id="3" name="Shape 1"/>
          <p:cNvSpPr/>
          <p:nvPr/>
        </p:nvSpPr>
        <p:spPr>
          <a:xfrm>
            <a:off x="0" y="0"/>
            <a:ext cx="201168" cy="5143500"/>
          </a:xfrm>
          <a:prstGeom prst="rect">
            <a:avLst/>
          </a:prstGeom>
          <a:solidFill>
            <a:srgbClr val="028090"/>
          </a:solidFill>
          <a:ln/>
        </p:spPr>
        <p:txBody>
          <a:bodyPr/>
          <a:lstStyle/>
          <a:p>
            <a:endParaRPr lang="en-US"/>
          </a:p>
        </p:txBody>
      </p:sp>
      <p:sp>
        <p:nvSpPr>
          <p:cNvPr id="4" name="Text 2"/>
          <p:cNvSpPr/>
          <p:nvPr/>
        </p:nvSpPr>
        <p:spPr>
          <a:xfrm>
            <a:off x="457200" y="91440"/>
            <a:ext cx="8229600" cy="45720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4 · Recognising Stewardship (TSAC &amp; SOSAC)</a:t>
            </a:r>
            <a:endParaRPr lang="en-US" sz="1600" dirty="0"/>
          </a:p>
        </p:txBody>
      </p:sp>
      <p:sp>
        <p:nvSpPr>
          <p:cNvPr id="5" name="Shape 3"/>
          <p:cNvSpPr/>
          <p:nvPr/>
        </p:nvSpPr>
        <p:spPr>
          <a:xfrm>
            <a:off x="457200" y="777240"/>
            <a:ext cx="8229600" cy="1280160"/>
          </a:xfrm>
          <a:prstGeom prst="rect">
            <a:avLst/>
          </a:prstGeom>
          <a:solidFill>
            <a:srgbClr val="E1F5EE"/>
          </a:solidFill>
          <a:ln w="12700">
            <a:solidFill>
              <a:srgbClr val="1D9E75"/>
            </a:solidFill>
            <a:prstDash val="solid"/>
          </a:ln>
        </p:spPr>
        <p:txBody>
          <a:bodyPr/>
          <a:lstStyle/>
          <a:p>
            <a:endParaRPr lang="en-US"/>
          </a:p>
        </p:txBody>
      </p:sp>
      <p:sp>
        <p:nvSpPr>
          <p:cNvPr id="6" name="Text 4"/>
          <p:cNvSpPr/>
          <p:nvPr/>
        </p:nvSpPr>
        <p:spPr>
          <a:xfrm>
            <a:off x="594360" y="841248"/>
            <a:ext cx="7955280" cy="274320"/>
          </a:xfrm>
          <a:prstGeom prst="rect">
            <a:avLst/>
          </a:prstGeom>
          <a:noFill/>
          <a:ln/>
        </p:spPr>
        <p:txBody>
          <a:bodyPr wrap="square" lIns="0" tIns="0" rIns="0" bIns="0" rtlCol="0" anchor="ctr"/>
          <a:lstStyle/>
          <a:p>
            <a:pPr marL="0" indent="0">
              <a:buNone/>
            </a:pPr>
            <a:r>
              <a:rPr lang="en-US" sz="1200" b="1" dirty="0">
                <a:solidFill>
                  <a:srgbClr val="085041"/>
                </a:solidFill>
                <a:latin typeface="Calibri" pitchFamily="34" charset="0"/>
                <a:ea typeface="Calibri" pitchFamily="34" charset="-122"/>
                <a:cs typeface="Calibri" pitchFamily="34" charset="-120"/>
              </a:rPr>
              <a:t>Terrestrial Biodiversity Stewardship Allocation Component (TSAC)</a:t>
            </a:r>
            <a:endParaRPr lang="en-US" sz="1200" dirty="0"/>
          </a:p>
        </p:txBody>
      </p:sp>
      <p:sp>
        <p:nvSpPr>
          <p:cNvPr id="7" name="Text 5"/>
          <p:cNvSpPr/>
          <p:nvPr/>
        </p:nvSpPr>
        <p:spPr>
          <a:xfrm>
            <a:off x="594360" y="1133856"/>
            <a:ext cx="7955280" cy="822960"/>
          </a:xfrm>
          <a:prstGeom prst="rect">
            <a:avLst/>
          </a:prstGeom>
          <a:noFill/>
          <a:ln/>
        </p:spPr>
        <p:txBody>
          <a:bodyPr wrap="square" lIns="0" tIns="0" rIns="0" bIns="0" rtlCol="0" anchor="t"/>
          <a:lstStyle/>
          <a:p>
            <a:pPr marL="0" indent="0">
              <a:buNone/>
            </a:pPr>
            <a:r>
              <a:rPr lang="en-US" sz="1200" dirty="0">
                <a:solidFill>
                  <a:srgbClr val="0F6E56"/>
                </a:solidFill>
                <a:latin typeface="Calibri" pitchFamily="34" charset="0"/>
                <a:ea typeface="Calibri" pitchFamily="34" charset="-122"/>
                <a:cs typeface="Calibri" pitchFamily="34" charset="-120"/>
              </a:rPr>
              <a:t>Some countries are very large and therefore carry greater responsibility for stewarding the world's terrestrial biodiversity. A terrestrial land-area weight recognises this stewardship role and adjusts their share accordingly to support implementation of their NBSAPs and, where available, National Biodiversity Finance Plans. It uses the widely used FAOSTAT Land Area (Square km) table to proportionally calculate the TSAC share by Country. The TSAC share is then allocated by country size.</a:t>
            </a:r>
            <a:endParaRPr lang="en-US" sz="1200" dirty="0"/>
          </a:p>
        </p:txBody>
      </p:sp>
      <p:sp>
        <p:nvSpPr>
          <p:cNvPr id="8" name="Shape 6"/>
          <p:cNvSpPr/>
          <p:nvPr/>
        </p:nvSpPr>
        <p:spPr>
          <a:xfrm>
            <a:off x="457200" y="2148840"/>
            <a:ext cx="8229600" cy="1280160"/>
          </a:xfrm>
          <a:prstGeom prst="rect">
            <a:avLst/>
          </a:prstGeom>
          <a:solidFill>
            <a:srgbClr val="FAEEDA"/>
          </a:solidFill>
          <a:ln w="12700">
            <a:solidFill>
              <a:srgbClr val="EF9F27"/>
            </a:solidFill>
            <a:prstDash val="solid"/>
          </a:ln>
        </p:spPr>
        <p:txBody>
          <a:bodyPr/>
          <a:lstStyle/>
          <a:p>
            <a:endParaRPr lang="en-US"/>
          </a:p>
        </p:txBody>
      </p:sp>
      <p:sp>
        <p:nvSpPr>
          <p:cNvPr id="9" name="Text 7"/>
          <p:cNvSpPr/>
          <p:nvPr/>
        </p:nvSpPr>
        <p:spPr>
          <a:xfrm>
            <a:off x="594360" y="2212848"/>
            <a:ext cx="7955280" cy="274320"/>
          </a:xfrm>
          <a:prstGeom prst="rect">
            <a:avLst/>
          </a:prstGeom>
          <a:noFill/>
          <a:ln/>
        </p:spPr>
        <p:txBody>
          <a:bodyPr wrap="square" lIns="0" tIns="0" rIns="0" bIns="0" rtlCol="0" anchor="ctr"/>
          <a:lstStyle/>
          <a:p>
            <a:pPr marL="0" indent="0">
              <a:buNone/>
            </a:pPr>
            <a:r>
              <a:rPr lang="en-US" sz="1200" b="1" dirty="0">
                <a:solidFill>
                  <a:srgbClr val="633806"/>
                </a:solidFill>
                <a:latin typeface="Calibri" pitchFamily="34" charset="0"/>
                <a:ea typeface="Calibri" pitchFamily="34" charset="-122"/>
                <a:cs typeface="Calibri" pitchFamily="34" charset="-120"/>
              </a:rPr>
              <a:t>Small Island Developing States Ocean Stewardship Allocation Component (SOSAC)</a:t>
            </a:r>
            <a:endParaRPr lang="en-US" sz="1200" dirty="0"/>
          </a:p>
        </p:txBody>
      </p:sp>
      <p:sp>
        <p:nvSpPr>
          <p:cNvPr id="10" name="Text 8"/>
          <p:cNvSpPr/>
          <p:nvPr/>
        </p:nvSpPr>
        <p:spPr>
          <a:xfrm>
            <a:off x="594360" y="2505456"/>
            <a:ext cx="7955280" cy="822960"/>
          </a:xfrm>
          <a:prstGeom prst="rect">
            <a:avLst/>
          </a:prstGeom>
          <a:noFill/>
          <a:ln/>
        </p:spPr>
        <p:txBody>
          <a:bodyPr wrap="square" lIns="0" tIns="0" rIns="0" bIns="0" rtlCol="0" anchor="t"/>
          <a:lstStyle/>
          <a:p>
            <a:pPr marL="0" indent="0">
              <a:buNone/>
            </a:pPr>
            <a:r>
              <a:rPr lang="en-US" sz="1200" dirty="0">
                <a:solidFill>
                  <a:srgbClr val="854F0B"/>
                </a:solidFill>
                <a:latin typeface="Calibri" pitchFamily="34" charset="0"/>
                <a:ea typeface="Calibri" pitchFamily="34" charset="-122"/>
                <a:cs typeface="Calibri" pitchFamily="34" charset="-120"/>
              </a:rPr>
              <a:t>Small Island Developing States carry significant ocean stewardship responsibilities and face recognised structural constraints — geographic isolation, economic vulnerability, and disproportionate exposure to environmental risks. An equal share among eligible SIDS balances these realities. SOSAC is calculated by assigning a percentage of the total fund, that share is then allocated equally among the 39 UN recognised SIDS. </a:t>
            </a:r>
            <a:endParaRPr lang="en-US" sz="1200" dirty="0"/>
          </a:p>
        </p:txBody>
      </p:sp>
      <p:sp>
        <p:nvSpPr>
          <p:cNvPr id="11" name="Text 9"/>
          <p:cNvSpPr/>
          <p:nvPr/>
        </p:nvSpPr>
        <p:spPr>
          <a:xfrm>
            <a:off x="457200" y="3520440"/>
            <a:ext cx="8229600" cy="594360"/>
          </a:xfrm>
          <a:prstGeom prst="rect">
            <a:avLst/>
          </a:prstGeom>
          <a:noFill/>
          <a:ln/>
        </p:spPr>
        <p:txBody>
          <a:bodyPr wrap="square" rtlCol="0" anchor="ctr"/>
          <a:lstStyle/>
          <a:p>
            <a:pPr marL="0" indent="0">
              <a:buNone/>
            </a:pPr>
            <a:r>
              <a:rPr lang="en-US" sz="1200" dirty="0">
                <a:solidFill>
                  <a:srgbClr val="5C7B72"/>
                </a:solidFill>
                <a:latin typeface="Calibri" pitchFamily="34" charset="0"/>
                <a:ea typeface="Calibri" pitchFamily="34" charset="-122"/>
                <a:cs typeface="Calibri" pitchFamily="34" charset="-120"/>
              </a:rPr>
              <a:t>The three components are weighted so they always add up to 100% of the fund. Giving more weight to TSAC or SOSAC reallocates money away from the IUSAF foundation. It would be a matter for Parties to agree the appropriate balance points between IUSAF, TSAC and SOSAC.</a:t>
            </a:r>
            <a:endParaRPr lang="en-US" sz="1200" dirty="0"/>
          </a:p>
        </p:txBody>
      </p:sp>
      <p:sp>
        <p:nvSpPr>
          <p:cNvPr id="12" name="Shape 10"/>
          <p:cNvSpPr/>
          <p:nvPr/>
        </p:nvSpPr>
        <p:spPr>
          <a:xfrm>
            <a:off x="457200" y="4206240"/>
            <a:ext cx="6172200" cy="347472"/>
          </a:xfrm>
          <a:prstGeom prst="rect">
            <a:avLst/>
          </a:prstGeom>
          <a:solidFill>
            <a:srgbClr val="E6F1FB"/>
          </a:solidFill>
          <a:ln w="6350">
            <a:solidFill>
              <a:srgbClr val="378ADD"/>
            </a:solidFill>
            <a:prstDash val="solid"/>
          </a:ln>
        </p:spPr>
        <p:txBody>
          <a:bodyPr/>
          <a:lstStyle/>
          <a:p>
            <a:endParaRPr lang="en-US"/>
          </a:p>
        </p:txBody>
      </p:sp>
      <p:sp>
        <p:nvSpPr>
          <p:cNvPr id="13" name="Text 11"/>
          <p:cNvSpPr/>
          <p:nvPr/>
        </p:nvSpPr>
        <p:spPr>
          <a:xfrm>
            <a:off x="457200" y="4206240"/>
            <a:ext cx="6172200" cy="347472"/>
          </a:xfrm>
          <a:prstGeom prst="rect">
            <a:avLst/>
          </a:prstGeom>
          <a:noFill/>
          <a:ln/>
        </p:spPr>
        <p:txBody>
          <a:bodyPr wrap="square" lIns="0" tIns="0" rIns="0" bIns="0" rtlCol="0" anchor="ctr"/>
          <a:lstStyle/>
          <a:p>
            <a:pPr marL="0" indent="0" algn="ctr">
              <a:buNone/>
            </a:pPr>
            <a:r>
              <a:rPr lang="en-US" sz="1000" b="1" dirty="0">
                <a:solidFill>
                  <a:srgbClr val="0C447C"/>
                </a:solidFill>
                <a:latin typeface="Calibri" pitchFamily="34" charset="0"/>
                <a:ea typeface="Calibri" pitchFamily="34" charset="-122"/>
                <a:cs typeface="Calibri" pitchFamily="34" charset="-120"/>
              </a:rPr>
              <a:t>IUSAF 75%</a:t>
            </a:r>
            <a:endParaRPr lang="en-US" sz="1000" dirty="0"/>
          </a:p>
        </p:txBody>
      </p:sp>
      <p:sp>
        <p:nvSpPr>
          <p:cNvPr id="14" name="Shape 12"/>
          <p:cNvSpPr/>
          <p:nvPr/>
        </p:nvSpPr>
        <p:spPr>
          <a:xfrm>
            <a:off x="6656832" y="4206240"/>
            <a:ext cx="1207008" cy="347472"/>
          </a:xfrm>
          <a:prstGeom prst="rect">
            <a:avLst/>
          </a:prstGeom>
          <a:solidFill>
            <a:srgbClr val="E1F5EE"/>
          </a:solidFill>
          <a:ln w="6350">
            <a:solidFill>
              <a:srgbClr val="1D9E75"/>
            </a:solidFill>
            <a:prstDash val="solid"/>
          </a:ln>
        </p:spPr>
        <p:txBody>
          <a:bodyPr/>
          <a:lstStyle/>
          <a:p>
            <a:endParaRPr lang="en-US"/>
          </a:p>
        </p:txBody>
      </p:sp>
      <p:sp>
        <p:nvSpPr>
          <p:cNvPr id="15" name="Text 13"/>
          <p:cNvSpPr/>
          <p:nvPr/>
        </p:nvSpPr>
        <p:spPr>
          <a:xfrm>
            <a:off x="6656832" y="4206240"/>
            <a:ext cx="1207008" cy="347472"/>
          </a:xfrm>
          <a:prstGeom prst="rect">
            <a:avLst/>
          </a:prstGeom>
          <a:noFill/>
          <a:ln/>
        </p:spPr>
        <p:txBody>
          <a:bodyPr wrap="square" lIns="0" tIns="0" rIns="0" bIns="0" rtlCol="0" anchor="ctr"/>
          <a:lstStyle/>
          <a:p>
            <a:pPr marL="0" indent="0" algn="ctr">
              <a:buNone/>
            </a:pPr>
            <a:r>
              <a:rPr lang="en-US" sz="1000" b="1" dirty="0">
                <a:solidFill>
                  <a:srgbClr val="085041"/>
                </a:solidFill>
                <a:latin typeface="Calibri" pitchFamily="34" charset="0"/>
                <a:ea typeface="Calibri" pitchFamily="34" charset="-122"/>
                <a:cs typeface="Calibri" pitchFamily="34" charset="-120"/>
              </a:rPr>
              <a:t>TSAC 15%</a:t>
            </a:r>
            <a:endParaRPr lang="en-US" sz="1000" dirty="0"/>
          </a:p>
        </p:txBody>
      </p:sp>
      <p:sp>
        <p:nvSpPr>
          <p:cNvPr id="16" name="Shape 14"/>
          <p:cNvSpPr/>
          <p:nvPr/>
        </p:nvSpPr>
        <p:spPr>
          <a:xfrm>
            <a:off x="7918704" y="4206240"/>
            <a:ext cx="768096" cy="347472"/>
          </a:xfrm>
          <a:prstGeom prst="rect">
            <a:avLst/>
          </a:prstGeom>
          <a:solidFill>
            <a:srgbClr val="FAEEDA"/>
          </a:solidFill>
          <a:ln w="6350">
            <a:solidFill>
              <a:srgbClr val="EF9F27"/>
            </a:solidFill>
            <a:prstDash val="solid"/>
          </a:ln>
        </p:spPr>
        <p:txBody>
          <a:bodyPr/>
          <a:lstStyle/>
          <a:p>
            <a:endParaRPr lang="en-US"/>
          </a:p>
        </p:txBody>
      </p:sp>
      <p:sp>
        <p:nvSpPr>
          <p:cNvPr id="17" name="Text 15"/>
          <p:cNvSpPr/>
          <p:nvPr/>
        </p:nvSpPr>
        <p:spPr>
          <a:xfrm>
            <a:off x="7918704" y="4206240"/>
            <a:ext cx="768096" cy="347472"/>
          </a:xfrm>
          <a:prstGeom prst="rect">
            <a:avLst/>
          </a:prstGeom>
          <a:noFill/>
          <a:ln/>
        </p:spPr>
        <p:txBody>
          <a:bodyPr wrap="square" lIns="0" tIns="0" rIns="0" bIns="0" rtlCol="0" anchor="ctr"/>
          <a:lstStyle/>
          <a:p>
            <a:pPr marL="0" indent="0" algn="ctr">
              <a:buNone/>
            </a:pPr>
            <a:r>
              <a:rPr lang="en-US" sz="1000" b="1" dirty="0">
                <a:solidFill>
                  <a:srgbClr val="633806"/>
                </a:solidFill>
                <a:latin typeface="Calibri" pitchFamily="34" charset="0"/>
                <a:ea typeface="Calibri" pitchFamily="34" charset="-122"/>
                <a:cs typeface="Calibri" pitchFamily="34" charset="-120"/>
              </a:rPr>
              <a:t>SOSAC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3B2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28090"/>
          </a:solidFill>
          <a:ln/>
        </p:spPr>
        <p:txBody>
          <a:bodyPr/>
          <a:lstStyle/>
          <a:p>
            <a:endParaRPr lang="en-US"/>
          </a:p>
        </p:txBody>
      </p:sp>
      <p:sp>
        <p:nvSpPr>
          <p:cNvPr id="3" name="Text 1"/>
          <p:cNvSpPr/>
          <p:nvPr/>
        </p:nvSpPr>
        <p:spPr>
          <a:xfrm>
            <a:off x="457200" y="548640"/>
            <a:ext cx="1097280" cy="1097280"/>
          </a:xfrm>
          <a:prstGeom prst="rect">
            <a:avLst/>
          </a:prstGeom>
          <a:noFill/>
          <a:ln/>
        </p:spPr>
        <p:txBody>
          <a:bodyPr wrap="square" rtlCol="0" anchor="t"/>
          <a:lstStyle/>
          <a:p>
            <a:pPr marL="0" indent="0">
              <a:buNone/>
            </a:pPr>
            <a:r>
              <a:rPr lang="en-US" sz="7200" b="1" dirty="0">
                <a:solidFill>
                  <a:srgbClr val="028090"/>
                </a:solidFill>
                <a:latin typeface="Georgia" pitchFamily="34" charset="0"/>
                <a:ea typeface="Georgia" pitchFamily="34" charset="-122"/>
                <a:cs typeface="Georgia" pitchFamily="34" charset="-120"/>
              </a:rPr>
              <a:t>5</a:t>
            </a:r>
            <a:endParaRPr lang="en-US" sz="7200" dirty="0"/>
          </a:p>
        </p:txBody>
      </p:sp>
      <p:sp>
        <p:nvSpPr>
          <p:cNvPr id="4" name="Text 2"/>
          <p:cNvSpPr/>
          <p:nvPr/>
        </p:nvSpPr>
        <p:spPr>
          <a:xfrm>
            <a:off x="457200" y="1645920"/>
            <a:ext cx="8229600" cy="1097280"/>
          </a:xfrm>
          <a:prstGeom prst="rect">
            <a:avLst/>
          </a:prstGeom>
          <a:noFill/>
          <a:ln/>
        </p:spPr>
        <p:txBody>
          <a:bodyPr wrap="square" rtlCol="0" anchor="ctr"/>
          <a:lstStyle/>
          <a:p>
            <a:pPr marL="0" indent="0">
              <a:buNone/>
            </a:pPr>
            <a:r>
              <a:rPr lang="en-US" sz="3600" b="1" dirty="0" err="1">
                <a:solidFill>
                  <a:srgbClr val="FFFFFF"/>
                </a:solidFill>
                <a:latin typeface="Georgia" pitchFamily="34" charset="0"/>
                <a:ea typeface="Georgia" pitchFamily="34" charset="-122"/>
                <a:cs typeface="Georgia" pitchFamily="34" charset="-120"/>
              </a:rPr>
              <a:t>Recognising</a:t>
            </a:r>
            <a:r>
              <a:rPr lang="en-US" sz="3600" b="1" dirty="0">
                <a:solidFill>
                  <a:srgbClr val="FFFFFF"/>
                </a:solidFill>
                <a:latin typeface="Georgia" pitchFamily="34" charset="0"/>
                <a:ea typeface="Georgia" pitchFamily="34" charset="-122"/>
                <a:cs typeface="Georgia" pitchFamily="34" charset="-120"/>
              </a:rPr>
              <a:t> IPLC Stewardship</a:t>
            </a:r>
            <a:endParaRPr lang="en-US" sz="3600" dirty="0"/>
          </a:p>
        </p:txBody>
      </p:sp>
      <p:sp>
        <p:nvSpPr>
          <p:cNvPr id="5" name="Text 3"/>
          <p:cNvSpPr/>
          <p:nvPr/>
        </p:nvSpPr>
        <p:spPr>
          <a:xfrm>
            <a:off x="457200" y="2834640"/>
            <a:ext cx="7772400" cy="914400"/>
          </a:xfrm>
          <a:prstGeom prst="rect">
            <a:avLst/>
          </a:prstGeom>
          <a:noFill/>
          <a:ln/>
        </p:spPr>
        <p:txBody>
          <a:bodyPr wrap="square" rtlCol="0" anchor="t"/>
          <a:lstStyle/>
          <a:p>
            <a:pPr marL="0" indent="0">
              <a:buNone/>
            </a:pPr>
            <a:r>
              <a:rPr lang="en-US" sz="1600" i="1" dirty="0">
                <a:solidFill>
                  <a:srgbClr val="9ECFC8"/>
                </a:solidFill>
                <a:latin typeface="Calibri" pitchFamily="34" charset="0"/>
                <a:ea typeface="Calibri" pitchFamily="34" charset="-122"/>
                <a:cs typeface="Calibri" pitchFamily="34" charset="-120"/>
              </a:rPr>
              <a:t>Ensuring Indigenous Peoples and Local Communities benefit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3B2E"/>
          </a:solidFill>
          <a:ln/>
        </p:spPr>
        <p:txBody>
          <a:bodyPr/>
          <a:lstStyle/>
          <a:p>
            <a:endParaRPr lang="en-US"/>
          </a:p>
        </p:txBody>
      </p:sp>
      <p:sp>
        <p:nvSpPr>
          <p:cNvPr id="3" name="Shape 1"/>
          <p:cNvSpPr/>
          <p:nvPr/>
        </p:nvSpPr>
        <p:spPr>
          <a:xfrm>
            <a:off x="0" y="0"/>
            <a:ext cx="201168" cy="5143500"/>
          </a:xfrm>
          <a:prstGeom prst="rect">
            <a:avLst/>
          </a:prstGeom>
          <a:solidFill>
            <a:srgbClr val="028090"/>
          </a:solidFill>
          <a:ln/>
        </p:spPr>
        <p:txBody>
          <a:bodyPr/>
          <a:lstStyle/>
          <a:p>
            <a:endParaRPr lang="en-US"/>
          </a:p>
        </p:txBody>
      </p:sp>
      <p:sp>
        <p:nvSpPr>
          <p:cNvPr id="4" name="Text 2"/>
          <p:cNvSpPr/>
          <p:nvPr/>
        </p:nvSpPr>
        <p:spPr>
          <a:xfrm>
            <a:off x="457200" y="91440"/>
            <a:ext cx="8229600" cy="45720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5 · Recognising IPLCs</a:t>
            </a:r>
            <a:endParaRPr lang="en-US" sz="1600" dirty="0"/>
          </a:p>
        </p:txBody>
      </p:sp>
      <p:sp>
        <p:nvSpPr>
          <p:cNvPr id="5" name="Text 3"/>
          <p:cNvSpPr/>
          <p:nvPr/>
        </p:nvSpPr>
        <p:spPr>
          <a:xfrm>
            <a:off x="457200" y="777240"/>
            <a:ext cx="8229600" cy="685800"/>
          </a:xfrm>
          <a:prstGeom prst="rect">
            <a:avLst/>
          </a:prstGeom>
          <a:noFill/>
          <a:ln/>
        </p:spPr>
        <p:txBody>
          <a:bodyPr wrap="square" rtlCol="0" anchor="ctr"/>
          <a:lstStyle/>
          <a:p>
            <a:pPr marL="0" indent="0">
              <a:buNone/>
            </a:pPr>
            <a:r>
              <a:rPr lang="en-US" sz="1300" dirty="0">
                <a:solidFill>
                  <a:srgbClr val="5C7B72"/>
                </a:solidFill>
                <a:latin typeface="Calibri" pitchFamily="34" charset="0"/>
                <a:ea typeface="Calibri" pitchFamily="34" charset="-122"/>
                <a:cs typeface="Calibri" pitchFamily="34" charset="-120"/>
              </a:rPr>
              <a:t>Once a country's total share is calculated, it is divided into two components — consistent with Decision 16/2. Note that </a:t>
            </a:r>
            <a:r>
              <a:rPr lang="en-US" sz="1300" b="1" dirty="0">
                <a:solidFill>
                  <a:srgbClr val="5C7B72"/>
                </a:solidFill>
                <a:latin typeface="Calibri" pitchFamily="34" charset="0"/>
                <a:ea typeface="Calibri" pitchFamily="34" charset="-122"/>
                <a:cs typeface="Calibri" pitchFamily="34" charset="-120"/>
              </a:rPr>
              <a:t>the amount allocated to IPLCs by the formula and appropriate pathways for disbursement are separate considerations</a:t>
            </a:r>
            <a:r>
              <a:rPr lang="en-US" sz="1300" dirty="0">
                <a:solidFill>
                  <a:srgbClr val="5C7B72"/>
                </a:solidFill>
                <a:latin typeface="Calibri" pitchFamily="34" charset="0"/>
                <a:ea typeface="Calibri" pitchFamily="34" charset="-122"/>
                <a:cs typeface="Calibri" pitchFamily="34" charset="-120"/>
              </a:rPr>
              <a:t> and may combine past experience, guiding principles and the themes of the SB8J </a:t>
            </a:r>
            <a:r>
              <a:rPr lang="en-US" sz="1300" dirty="0" err="1">
                <a:solidFill>
                  <a:srgbClr val="5C7B72"/>
                </a:solidFill>
                <a:latin typeface="Calibri" pitchFamily="34" charset="0"/>
                <a:ea typeface="Calibri" pitchFamily="34" charset="-122"/>
                <a:cs typeface="Calibri" pitchFamily="34" charset="-120"/>
              </a:rPr>
              <a:t>programme</a:t>
            </a:r>
            <a:r>
              <a:rPr lang="en-US" sz="1300" dirty="0">
                <a:solidFill>
                  <a:srgbClr val="5C7B72"/>
                </a:solidFill>
                <a:latin typeface="Calibri" pitchFamily="34" charset="0"/>
                <a:ea typeface="Calibri" pitchFamily="34" charset="-122"/>
                <a:cs typeface="Calibri" pitchFamily="34" charset="-120"/>
              </a:rPr>
              <a:t> of work.</a:t>
            </a:r>
            <a:endParaRPr lang="en-US" sz="1300" dirty="0"/>
          </a:p>
        </p:txBody>
      </p:sp>
      <p:sp>
        <p:nvSpPr>
          <p:cNvPr id="6" name="Shape 4"/>
          <p:cNvSpPr/>
          <p:nvPr/>
        </p:nvSpPr>
        <p:spPr>
          <a:xfrm>
            <a:off x="457200" y="1554480"/>
            <a:ext cx="8229600" cy="777240"/>
          </a:xfrm>
          <a:prstGeom prst="rect">
            <a:avLst/>
          </a:prstGeom>
          <a:solidFill>
            <a:srgbClr val="FFFFFF"/>
          </a:solidFill>
          <a:ln w="6350">
            <a:solidFill>
              <a:srgbClr val="CBCAC0"/>
            </a:solidFill>
            <a:prstDash val="solid"/>
          </a:ln>
        </p:spPr>
        <p:txBody>
          <a:bodyPr/>
          <a:lstStyle/>
          <a:p>
            <a:endParaRPr lang="en-US"/>
          </a:p>
        </p:txBody>
      </p:sp>
      <p:sp>
        <p:nvSpPr>
          <p:cNvPr id="7" name="Text 5"/>
          <p:cNvSpPr/>
          <p:nvPr/>
        </p:nvSpPr>
        <p:spPr>
          <a:xfrm>
            <a:off x="594360" y="1609344"/>
            <a:ext cx="7955280" cy="658368"/>
          </a:xfrm>
          <a:prstGeom prst="rect">
            <a:avLst/>
          </a:prstGeom>
          <a:noFill/>
          <a:ln/>
        </p:spPr>
        <p:txBody>
          <a:bodyPr wrap="square" lIns="0" tIns="0" rIns="0" bIns="0" rtlCol="0" anchor="ctr"/>
          <a:lstStyle/>
          <a:p>
            <a:pPr marL="0" indent="0">
              <a:buNone/>
            </a:pPr>
            <a:r>
              <a:rPr lang="en-US" sz="1400" b="1" dirty="0">
                <a:solidFill>
                  <a:srgbClr val="3C3489"/>
                </a:solidFill>
                <a:latin typeface="Calibri" pitchFamily="34" charset="0"/>
                <a:ea typeface="Calibri" pitchFamily="34" charset="-122"/>
                <a:cs typeface="Calibri" pitchFamily="34" charset="-120"/>
              </a:rPr>
              <a:t>Community share (IPLC)</a:t>
            </a:r>
            <a:r>
              <a:rPr lang="en-US" sz="1400" dirty="0">
                <a:solidFill>
                  <a:srgbClr val="5C7B72"/>
                </a:solidFill>
                <a:latin typeface="Calibri" pitchFamily="34" charset="0"/>
                <a:ea typeface="Calibri" pitchFamily="34" charset="-122"/>
                <a:cs typeface="Calibri" pitchFamily="34" charset="-120"/>
              </a:rPr>
              <a:t>  =  total allocation  ×  chosen %</a:t>
            </a:r>
            <a:r>
              <a:rPr lang="en-US" sz="1400" dirty="0">
                <a:solidFill>
                  <a:srgbClr val="000000"/>
                </a:solidFill>
                <a:latin typeface="Calibri" pitchFamily="34" charset="0"/>
                <a:ea typeface="Calibri" pitchFamily="34" charset="-122"/>
                <a:cs typeface="Calibri" pitchFamily="34" charset="-120"/>
              </a:rPr>
              <a:t>
</a:t>
            </a:r>
            <a:r>
              <a:rPr lang="en-US" sz="1400" b="1" dirty="0">
                <a:solidFill>
                  <a:srgbClr val="085041"/>
                </a:solidFill>
                <a:latin typeface="Calibri" pitchFamily="34" charset="0"/>
                <a:ea typeface="Calibri" pitchFamily="34" charset="-122"/>
                <a:cs typeface="Calibri" pitchFamily="34" charset="-120"/>
              </a:rPr>
              <a:t>Government share</a:t>
            </a:r>
            <a:r>
              <a:rPr lang="en-US" sz="1400" dirty="0">
                <a:solidFill>
                  <a:srgbClr val="5C7B72"/>
                </a:solidFill>
                <a:latin typeface="Calibri" pitchFamily="34" charset="0"/>
                <a:ea typeface="Calibri" pitchFamily="34" charset="-122"/>
                <a:cs typeface="Calibri" pitchFamily="34" charset="-120"/>
              </a:rPr>
              <a:t>  =  total allocation  ×  the remainder</a:t>
            </a:r>
            <a:endParaRPr lang="en-US" sz="1400" dirty="0"/>
          </a:p>
        </p:txBody>
      </p:sp>
      <p:sp>
        <p:nvSpPr>
          <p:cNvPr id="8" name="Text 6"/>
          <p:cNvSpPr/>
          <p:nvPr/>
        </p:nvSpPr>
        <p:spPr>
          <a:xfrm>
            <a:off x="457200" y="2450592"/>
            <a:ext cx="8229600" cy="274320"/>
          </a:xfrm>
          <a:prstGeom prst="rect">
            <a:avLst/>
          </a:prstGeom>
          <a:noFill/>
          <a:ln/>
        </p:spPr>
        <p:txBody>
          <a:bodyPr wrap="square" rtlCol="0" anchor="ctr"/>
          <a:lstStyle/>
          <a:p>
            <a:pPr marL="0" indent="0">
              <a:buNone/>
            </a:pPr>
            <a:r>
              <a:rPr lang="en-US" sz="1100" i="1" dirty="0">
                <a:solidFill>
                  <a:srgbClr val="5C7B72"/>
                </a:solidFill>
                <a:latin typeface="Calibri" pitchFamily="34" charset="0"/>
                <a:ea typeface="Calibri" pitchFamily="34" charset="-122"/>
                <a:cs typeface="Calibri" pitchFamily="34" charset="-120"/>
              </a:rPr>
              <a:t>Example: a country allocation receiving $5m from a $1 billion fund (50% IPLC share):</a:t>
            </a:r>
            <a:endParaRPr lang="en-US" sz="1100" dirty="0"/>
          </a:p>
        </p:txBody>
      </p:sp>
      <p:sp>
        <p:nvSpPr>
          <p:cNvPr id="9" name="Text 7"/>
          <p:cNvSpPr/>
          <p:nvPr/>
        </p:nvSpPr>
        <p:spPr>
          <a:xfrm>
            <a:off x="457200" y="2798064"/>
            <a:ext cx="1645920" cy="365760"/>
          </a:xfrm>
          <a:prstGeom prst="rect">
            <a:avLst/>
          </a:prstGeom>
          <a:noFill/>
          <a:ln/>
        </p:spPr>
        <p:txBody>
          <a:bodyPr wrap="square" lIns="0" tIns="0" rIns="0" bIns="0" rtlCol="0" anchor="ctr"/>
          <a:lstStyle/>
          <a:p>
            <a:pPr marL="0" indent="0">
              <a:buNone/>
            </a:pPr>
            <a:r>
              <a:rPr lang="en-US" sz="1100" dirty="0">
                <a:solidFill>
                  <a:srgbClr val="5C7B72"/>
                </a:solidFill>
                <a:latin typeface="Calibri" pitchFamily="34" charset="0"/>
                <a:ea typeface="Calibri" pitchFamily="34" charset="-122"/>
                <a:cs typeface="Calibri" pitchFamily="34" charset="-120"/>
              </a:rPr>
              <a:t>Government Component</a:t>
            </a:r>
            <a:endParaRPr lang="en-US" sz="1100" dirty="0"/>
          </a:p>
        </p:txBody>
      </p:sp>
      <p:sp>
        <p:nvSpPr>
          <p:cNvPr id="10" name="Shape 8"/>
          <p:cNvSpPr/>
          <p:nvPr/>
        </p:nvSpPr>
        <p:spPr>
          <a:xfrm>
            <a:off x="2240280" y="2816352"/>
            <a:ext cx="3200400" cy="329184"/>
          </a:xfrm>
          <a:prstGeom prst="rect">
            <a:avLst/>
          </a:prstGeom>
          <a:solidFill>
            <a:srgbClr val="EEEDFE"/>
          </a:solidFill>
          <a:ln w="12700">
            <a:solidFill>
              <a:srgbClr val="7F77DD"/>
            </a:solidFill>
            <a:prstDash val="solid"/>
          </a:ln>
        </p:spPr>
        <p:txBody>
          <a:bodyPr/>
          <a:lstStyle/>
          <a:p>
            <a:endParaRPr lang="en-US"/>
          </a:p>
        </p:txBody>
      </p:sp>
      <p:sp>
        <p:nvSpPr>
          <p:cNvPr id="11" name="Text 9"/>
          <p:cNvSpPr/>
          <p:nvPr/>
        </p:nvSpPr>
        <p:spPr>
          <a:xfrm>
            <a:off x="2240280" y="2816352"/>
            <a:ext cx="3200400" cy="329184"/>
          </a:xfrm>
          <a:prstGeom prst="rect">
            <a:avLst/>
          </a:prstGeom>
          <a:noFill/>
          <a:ln/>
        </p:spPr>
        <p:txBody>
          <a:bodyPr wrap="square" lIns="0" tIns="0" rIns="0" bIns="0" rtlCol="0" anchor="ctr"/>
          <a:lstStyle/>
          <a:p>
            <a:pPr marL="0" indent="0" algn="ctr">
              <a:buNone/>
            </a:pPr>
            <a:r>
              <a:rPr lang="en-US" sz="1100" b="1" dirty="0">
                <a:solidFill>
                  <a:srgbClr val="3C3489"/>
                </a:solidFill>
                <a:latin typeface="Calibri" pitchFamily="34" charset="0"/>
                <a:ea typeface="Calibri" pitchFamily="34" charset="-122"/>
                <a:cs typeface="Calibri" pitchFamily="34" charset="-120"/>
              </a:rPr>
              <a:t>$2.50m — 50%</a:t>
            </a:r>
            <a:endParaRPr lang="en-US" sz="1100" dirty="0"/>
          </a:p>
        </p:txBody>
      </p:sp>
      <p:sp>
        <p:nvSpPr>
          <p:cNvPr id="12" name="Text 10"/>
          <p:cNvSpPr/>
          <p:nvPr/>
        </p:nvSpPr>
        <p:spPr>
          <a:xfrm>
            <a:off x="457200" y="3236976"/>
            <a:ext cx="1645920" cy="365760"/>
          </a:xfrm>
          <a:prstGeom prst="rect">
            <a:avLst/>
          </a:prstGeom>
          <a:noFill/>
          <a:ln/>
        </p:spPr>
        <p:txBody>
          <a:bodyPr wrap="square" lIns="0" tIns="0" rIns="0" bIns="0" rtlCol="0" anchor="ctr"/>
          <a:lstStyle/>
          <a:p>
            <a:pPr marL="0" indent="0">
              <a:buNone/>
            </a:pPr>
            <a:r>
              <a:rPr lang="en-US" sz="1100" dirty="0">
                <a:solidFill>
                  <a:srgbClr val="5C7B72"/>
                </a:solidFill>
                <a:latin typeface="Calibri" pitchFamily="34" charset="0"/>
                <a:ea typeface="Calibri" pitchFamily="34" charset="-122"/>
                <a:cs typeface="Calibri" pitchFamily="34" charset="-120"/>
              </a:rPr>
              <a:t>IPLC Component</a:t>
            </a:r>
            <a:endParaRPr lang="en-US" sz="1100" dirty="0"/>
          </a:p>
        </p:txBody>
      </p:sp>
      <p:sp>
        <p:nvSpPr>
          <p:cNvPr id="13" name="Shape 11"/>
          <p:cNvSpPr/>
          <p:nvPr/>
        </p:nvSpPr>
        <p:spPr>
          <a:xfrm>
            <a:off x="2240280" y="3255264"/>
            <a:ext cx="3200400" cy="329184"/>
          </a:xfrm>
          <a:prstGeom prst="rect">
            <a:avLst/>
          </a:prstGeom>
          <a:solidFill>
            <a:srgbClr val="E1F5EE"/>
          </a:solidFill>
          <a:ln w="12700">
            <a:solidFill>
              <a:srgbClr val="1D9E75"/>
            </a:solidFill>
            <a:prstDash val="solid"/>
          </a:ln>
        </p:spPr>
        <p:txBody>
          <a:bodyPr/>
          <a:lstStyle/>
          <a:p>
            <a:endParaRPr lang="en-US"/>
          </a:p>
        </p:txBody>
      </p:sp>
      <p:sp>
        <p:nvSpPr>
          <p:cNvPr id="14" name="Text 12"/>
          <p:cNvSpPr/>
          <p:nvPr/>
        </p:nvSpPr>
        <p:spPr>
          <a:xfrm>
            <a:off x="2240280" y="3255264"/>
            <a:ext cx="3200400" cy="329184"/>
          </a:xfrm>
          <a:prstGeom prst="rect">
            <a:avLst/>
          </a:prstGeom>
          <a:noFill/>
          <a:ln/>
        </p:spPr>
        <p:txBody>
          <a:bodyPr wrap="square" lIns="0" tIns="0" rIns="0" bIns="0" rtlCol="0" anchor="ctr"/>
          <a:lstStyle/>
          <a:p>
            <a:pPr marL="0" indent="0" algn="ctr">
              <a:buNone/>
            </a:pPr>
            <a:r>
              <a:rPr lang="en-US" sz="1100" b="1" dirty="0">
                <a:solidFill>
                  <a:srgbClr val="085041"/>
                </a:solidFill>
                <a:latin typeface="Calibri" pitchFamily="34" charset="0"/>
                <a:ea typeface="Calibri" pitchFamily="34" charset="-122"/>
                <a:cs typeface="Calibri" pitchFamily="34" charset="-120"/>
              </a:rPr>
              <a:t>$2.50m — 50%</a:t>
            </a:r>
            <a:endParaRPr lang="en-US" sz="1100" dirty="0"/>
          </a:p>
        </p:txBody>
      </p:sp>
      <p:sp>
        <p:nvSpPr>
          <p:cNvPr id="15" name="Text 13"/>
          <p:cNvSpPr/>
          <p:nvPr/>
        </p:nvSpPr>
        <p:spPr>
          <a:xfrm>
            <a:off x="2240280" y="3657600"/>
            <a:ext cx="3200400" cy="274320"/>
          </a:xfrm>
          <a:prstGeom prst="rect">
            <a:avLst/>
          </a:prstGeom>
          <a:noFill/>
          <a:ln/>
        </p:spPr>
        <p:txBody>
          <a:bodyPr wrap="square" rtlCol="0" anchor="ctr"/>
          <a:lstStyle/>
          <a:p>
            <a:pPr marL="0" indent="0" algn="ctr">
              <a:buNone/>
            </a:pPr>
            <a:r>
              <a:rPr lang="en-US" sz="1100" dirty="0">
                <a:solidFill>
                  <a:srgbClr val="5C7B72"/>
                </a:solidFill>
                <a:latin typeface="Calibri" pitchFamily="34" charset="0"/>
                <a:ea typeface="Calibri" pitchFamily="34" charset="-122"/>
                <a:cs typeface="Calibri" pitchFamily="34" charset="-120"/>
              </a:rPr>
              <a:t>Total: $5.00m ✓</a:t>
            </a:r>
            <a:endParaRPr lang="en-US" sz="1100" dirty="0"/>
          </a:p>
        </p:txBody>
      </p:sp>
      <p:sp>
        <p:nvSpPr>
          <p:cNvPr id="16" name="Shape 14"/>
          <p:cNvSpPr/>
          <p:nvPr/>
        </p:nvSpPr>
        <p:spPr>
          <a:xfrm>
            <a:off x="457200" y="4023360"/>
            <a:ext cx="54864" cy="777240"/>
          </a:xfrm>
          <a:prstGeom prst="rect">
            <a:avLst/>
          </a:prstGeom>
          <a:solidFill>
            <a:srgbClr val="028090"/>
          </a:solidFill>
          <a:ln/>
        </p:spPr>
        <p:txBody>
          <a:bodyPr/>
          <a:lstStyle/>
          <a:p>
            <a:endParaRPr lang="en-US"/>
          </a:p>
        </p:txBody>
      </p:sp>
      <p:sp>
        <p:nvSpPr>
          <p:cNvPr id="17" name="Shape 15"/>
          <p:cNvSpPr/>
          <p:nvPr/>
        </p:nvSpPr>
        <p:spPr>
          <a:xfrm>
            <a:off x="512064" y="4023360"/>
            <a:ext cx="8174736" cy="777240"/>
          </a:xfrm>
          <a:prstGeom prst="rect">
            <a:avLst/>
          </a:prstGeom>
          <a:solidFill>
            <a:srgbClr val="EAF6F5"/>
          </a:solidFill>
          <a:ln w="6350">
            <a:solidFill>
              <a:srgbClr val="C0E4DF"/>
            </a:solidFill>
            <a:prstDash val="solid"/>
          </a:ln>
        </p:spPr>
        <p:txBody>
          <a:bodyPr/>
          <a:lstStyle/>
          <a:p>
            <a:endParaRPr lang="en-US"/>
          </a:p>
        </p:txBody>
      </p:sp>
      <p:sp>
        <p:nvSpPr>
          <p:cNvPr id="18" name="Text 16"/>
          <p:cNvSpPr/>
          <p:nvPr/>
        </p:nvSpPr>
        <p:spPr>
          <a:xfrm>
            <a:off x="621792" y="4069080"/>
            <a:ext cx="8001000" cy="685800"/>
          </a:xfrm>
          <a:prstGeom prst="rect">
            <a:avLst/>
          </a:prstGeom>
          <a:noFill/>
          <a:ln/>
        </p:spPr>
        <p:txBody>
          <a:bodyPr wrap="square" lIns="0" tIns="0" rIns="0" bIns="0" rtlCol="0" anchor="t"/>
          <a:lstStyle/>
          <a:p>
            <a:pPr marL="0" indent="0">
              <a:buNone/>
            </a:pPr>
            <a:r>
              <a:rPr lang="en-US" sz="1100" dirty="0">
                <a:solidFill>
                  <a:srgbClr val="1A5C47"/>
                </a:solidFill>
                <a:latin typeface="Calibri" pitchFamily="34" charset="0"/>
                <a:ea typeface="Calibri" pitchFamily="34" charset="-122"/>
                <a:cs typeface="Calibri" pitchFamily="34" charset="-120"/>
              </a:rPr>
              <a:t>Every table in the app shows three columns side by side: Total share, Government component, and IPLC component. A totals row at the bottom confirms everything sums exactly to the fund size.</a:t>
            </a:r>
            <a:endParaRPr lang="en-US" sz="1100" dirty="0"/>
          </a:p>
        </p:txBody>
      </p:sp>
      <p:sp>
        <p:nvSpPr>
          <p:cNvPr id="20" name="TextBox 19">
            <a:extLst>
              <a:ext uri="{FF2B5EF4-FFF2-40B4-BE49-F238E27FC236}">
                <a16:creationId xmlns:a16="http://schemas.microsoft.com/office/drawing/2014/main" id="{3999A95D-EFBF-40E5-C143-22C9F2146C70}"/>
              </a:ext>
            </a:extLst>
          </p:cNvPr>
          <p:cNvSpPr txBox="1"/>
          <p:nvPr/>
        </p:nvSpPr>
        <p:spPr>
          <a:xfrm>
            <a:off x="1617785" y="3436536"/>
            <a:ext cx="184731" cy="369332"/>
          </a:xfrm>
          <a:prstGeom prst="rect">
            <a:avLst/>
          </a:prstGeom>
          <a:noFill/>
        </p:spPr>
        <p:txBody>
          <a:bodyPr wrap="none" rtlCol="0">
            <a:spAutoFit/>
          </a:bodyPr>
          <a:lstStyle/>
          <a:p>
            <a:endParaRPr lang="en-US" dirty="0"/>
          </a:p>
        </p:txBody>
      </p:sp>
      <p:sp>
        <p:nvSpPr>
          <p:cNvPr id="21" name="TextBox 20">
            <a:extLst>
              <a:ext uri="{FF2B5EF4-FFF2-40B4-BE49-F238E27FC236}">
                <a16:creationId xmlns:a16="http://schemas.microsoft.com/office/drawing/2014/main" id="{196C6A4F-2303-250C-FE89-3EDC56149C64}"/>
              </a:ext>
            </a:extLst>
          </p:cNvPr>
          <p:cNvSpPr txBox="1"/>
          <p:nvPr/>
        </p:nvSpPr>
        <p:spPr>
          <a:xfrm>
            <a:off x="1346479" y="3386295"/>
            <a:ext cx="184731" cy="369332"/>
          </a:xfrm>
          <a:prstGeom prst="rect">
            <a:avLst/>
          </a:prstGeom>
          <a:noFill/>
        </p:spPr>
        <p:txBody>
          <a:bodyPr wrap="none" rtlCol="0">
            <a:spAutoFit/>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2128</TotalTime>
  <Words>996</Words>
  <Application>Microsoft Macintosh PowerPoint</Application>
  <PresentationFormat>On-screen Show (16:9)</PresentationFormat>
  <Paragraphs>95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 Fund Allocation Model</dc:title>
  <dc:subject>PptxGenJS Presentation</dc:subject>
  <dc:creator>TierraViva AI</dc:creator>
  <cp:lastModifiedBy>Paul Oldham</cp:lastModifiedBy>
  <cp:revision>19</cp:revision>
  <dcterms:created xsi:type="dcterms:W3CDTF">2026-03-14T13:46:24Z</dcterms:created>
  <dcterms:modified xsi:type="dcterms:W3CDTF">2026-03-16T14:24:23Z</dcterms:modified>
</cp:coreProperties>
</file>